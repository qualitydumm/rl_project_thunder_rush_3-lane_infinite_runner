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66D42A-7BFA-46C1-BC4E-2D15C2E9BB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28FEFC9-5CC1-42D0-AE75-FF82376D166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000" autoAdjust="0"/>
  </p:normalViewPr>
  <p:slideViewPr>
    <p:cSldViewPr snapToGrid="0">
      <p:cViewPr varScale="1">
        <p:scale>
          <a:sx n="77" d="100"/>
          <a:sy n="77" d="100"/>
        </p:scale>
        <p:origin x="1004" y="36"/>
      </p:cViewPr>
      <p:guideLst>
        <p:guide orient="horz" pos="161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0e5c95e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0e5c95e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e4609cd2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g3ae4609cd2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927e3859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g3a927e3859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d5da20bc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ad5da20bc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927e3859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3a927e3859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5da20bcc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ad5da20bcc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5da20bcc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ad5da20bcc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27e3859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a927e3859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d5da20bcc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ad5da20bcc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5da20bc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ad5da20bc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5da20bcc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ad5da20bcc_1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5da20bc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ad5da20bc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5da20bc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ad5da20bcc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d5da20bcc_4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ad5da20bcc_4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5da20bcc_1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ad5da20bcc_1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d5da20bcc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ad5da20bcc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d5da20bcc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ad5da20bcc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d5da20bcc_4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d5da20bcc_4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d5da20bcc_4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d5da20bcc_4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5da20bcc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ad5da20bcc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d5da20bcc_4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ad5da20bcc_4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d5da20bcc_4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ad5da20bcc_4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1212a1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ae1212a1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d5da20bcc_4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ad5da20bcc_4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d5da20bcc_4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ad5da20bcc_4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01247359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801247359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alibri"/>
              <a:buNone/>
              <a:defRPr sz="4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214582" y="318367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  <a:defRPr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214575" y="898725"/>
            <a:ext cx="8688000" cy="3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982000" y="4859177"/>
            <a:ext cx="20574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" name="Google Shape;17;p11"/>
          <p:cNvSpPr txBox="1"/>
          <p:nvPr/>
        </p:nvSpPr>
        <p:spPr>
          <a:xfrm>
            <a:off x="-21700" y="4876075"/>
            <a:ext cx="86880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2"/>
          </p:nvPr>
        </p:nvSpPr>
        <p:spPr>
          <a:xfrm>
            <a:off x="214500" y="4793875"/>
            <a:ext cx="86880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  <a:defRPr sz="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○"/>
              <a:defRPr sz="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■"/>
              <a:defRPr sz="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  <a:defRPr sz="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○"/>
              <a:defRPr sz="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■"/>
              <a:defRPr sz="8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  <a:defRPr sz="8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○"/>
              <a:defRPr sz="8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79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■"/>
              <a:defRPr sz="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08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Qualitydumm/RL_Project_Thunder_Rush_3-Lane_Infinite_Runne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82102\OneDrive\&#47928;&#49436;\&#52852;&#52852;&#50724;&#53665;%20&#48155;&#51008;%20&#54028;&#51068;\KakaoTalk_20251207_213816017.mp4" TargetMode="External"/><Relationship Id="rId1" Type="http://schemas.microsoft.com/office/2007/relationships/media" Target="file:///C:\Users\82102\OneDrive\&#47928;&#49436;\&#52852;&#52852;&#50724;&#53665;%20&#48155;&#51008;%20&#54028;&#51068;\KakaoTalk_20251207_213816017.mp4" TargetMode="Externa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/>
        </p:nvSpPr>
        <p:spPr>
          <a:xfrm>
            <a:off x="5699234" y="-1466193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1"/>
          <p:cNvSpPr txBox="1">
            <a:spLocks noGrp="1"/>
          </p:cNvSpPr>
          <p:nvPr>
            <p:ph type="ctrTitle"/>
          </p:nvPr>
        </p:nvSpPr>
        <p:spPr>
          <a:xfrm>
            <a:off x="673150" y="1937850"/>
            <a:ext cx="8034300" cy="633900"/>
          </a:xfrm>
          <a:prstGeom prst="rect">
            <a:avLst/>
          </a:prstGeom>
          <a:solidFill>
            <a:srgbClr val="FFFFAD"/>
          </a:solidFill>
          <a:ln>
            <a:noFill/>
          </a:ln>
        </p:spPr>
        <p:txBody>
          <a:bodyPr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  <a:defRPr/>
            </a:pPr>
            <a:r>
              <a:rPr lang="ko" sz="3200" b="1">
                <a:solidFill>
                  <a:srgbClr val="000000"/>
                </a:solidFill>
                <a:latin typeface="HY헤드라인M"/>
                <a:ea typeface="HY헤드라인M"/>
              </a:rPr>
              <a:t>Thunder Rush : 3 - Lane Infinite Runner</a:t>
            </a:r>
            <a:r>
              <a:rPr lang="ko" sz="3200" b="1">
                <a:solidFill>
                  <a:srgbClr val="1C4587"/>
                </a:solidFill>
                <a:latin typeface="HY헤드라인M"/>
                <a:ea typeface="HY헤드라인M"/>
              </a:rPr>
              <a:t> </a:t>
            </a:r>
            <a:endParaRPr sz="3200" b="1">
              <a:solidFill>
                <a:srgbClr val="1C4587"/>
              </a:solidFill>
              <a:latin typeface="HY헤드라인M"/>
              <a:ea typeface="HY헤드라인M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subTitle" idx="1"/>
          </p:nvPr>
        </p:nvSpPr>
        <p:spPr>
          <a:xfrm>
            <a:off x="311700" y="3432800"/>
            <a:ext cx="8520600" cy="14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1800">
                <a:latin typeface="함초롬돋움"/>
                <a:ea typeface="함초롬돋움"/>
                <a:cs typeface="함초롬돋움"/>
                <a:sym typeface="한컴돋움"/>
              </a:rPr>
              <a:t>조 이름 : 벼락을느껴⚡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1800">
                <a:latin typeface="함초롬돋움"/>
                <a:ea typeface="함초롬돋움"/>
                <a:cs typeface="함초롬돋움"/>
                <a:sym typeface="한컴돋움"/>
              </a:rPr>
              <a:t>20211204 이지우, 20231842 나정연</a:t>
            </a:r>
            <a:r>
              <a:rPr lang="ko" sz="1800">
                <a:latin typeface="함초롬돋움"/>
                <a:ea typeface="함초롬돋움"/>
                <a:cs typeface="함초롬돋움"/>
              </a:rPr>
              <a:t> </a:t>
            </a:r>
            <a:endParaRPr sz="180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2862553" y="2837125"/>
            <a:ext cx="3614552" cy="588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" sz="1800" b="1" i="0" u="none" strike="noStrike" cap="none">
                <a:solidFill>
                  <a:schemeClr val="dk1"/>
                </a:solidFill>
                <a:latin typeface="HY헤드라인M"/>
                <a:ea typeface="HY헤드라인M"/>
                <a:cs typeface="Calibri"/>
                <a:sym typeface="Calibri"/>
              </a:rPr>
              <a:t>[</a:t>
            </a:r>
            <a:r>
              <a:rPr lang="ko" sz="1800" b="1">
                <a:solidFill>
                  <a:schemeClr val="dk1"/>
                </a:solidFill>
                <a:latin typeface="HY헤드라인M"/>
                <a:ea typeface="HY헤드라인M"/>
                <a:cs typeface="Calibri"/>
                <a:sym typeface="Calibri"/>
              </a:rPr>
              <a:t> RL Term Project </a:t>
            </a:r>
            <a:r>
              <a:rPr lang="ko" sz="1800" b="1" i="0" u="none" strike="noStrike" cap="none">
                <a:solidFill>
                  <a:schemeClr val="dk1"/>
                </a:solidFill>
                <a:latin typeface="HY헤드라인M"/>
                <a:ea typeface="HY헤드라인M"/>
                <a:cs typeface="Calibri"/>
                <a:sym typeface="Calibri"/>
              </a:rPr>
              <a:t>]</a:t>
            </a:r>
            <a:endParaRPr sz="1400" b="1" i="0" u="none" strike="noStrike" cap="none">
              <a:solidFill>
                <a:srgbClr val="000000"/>
              </a:solidFill>
              <a:latin typeface="HY헤드라인M"/>
              <a:ea typeface="HY헤드라인M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3951" y="789325"/>
            <a:ext cx="1316075" cy="106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가로 글상자 29"/>
          <p:cNvSpPr txBox="1"/>
          <p:nvPr/>
        </p:nvSpPr>
        <p:spPr>
          <a:xfrm>
            <a:off x="3115084" y="4422920"/>
            <a:ext cx="3190362" cy="299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  <a:hlinkClick r:id="rId4"/>
              </a:rPr>
              <a:t>Click here. This is our github link!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0e5c95e7f_0_25"/>
          <p:cNvSpPr txBox="1">
            <a:spLocks noGrp="1"/>
          </p:cNvSpPr>
          <p:nvPr>
            <p:ph type="title"/>
          </p:nvPr>
        </p:nvSpPr>
        <p:spPr>
          <a:xfrm>
            <a:off x="156882" y="31427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500">
                <a:solidFill>
                  <a:srgbClr val="1C4587"/>
                </a:solidFill>
                <a:latin typeface="한컴 윤고딕 760"/>
                <a:ea typeface="한컴 윤고딕 760"/>
              </a:rPr>
              <a:t>프로젝트 주제 및 목표</a:t>
            </a:r>
            <a:endParaRPr sz="18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35" name="Google Shape;35;g390e5c95e7f_0_25"/>
          <p:cNvSpPr txBox="1">
            <a:spLocks noGrp="1"/>
          </p:cNvSpPr>
          <p:nvPr>
            <p:ph type="body" idx="1"/>
          </p:nvPr>
        </p:nvSpPr>
        <p:spPr>
          <a:xfrm>
            <a:off x="0" y="973975"/>
            <a:ext cx="9200700" cy="1339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/>
          </a:bodyPr>
          <a:lstStyle/>
          <a:p>
            <a:pPr marL="457200" lvl="0" indent="-33654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700" b="1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주제</a:t>
            </a:r>
          </a:p>
          <a:p>
            <a:pPr marL="914400" lvl="1" indent="-36302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517">
                <a:latin typeface="함초롬돋움"/>
                <a:ea typeface="함초롬돋움"/>
                <a:cs typeface="함초롬돋움"/>
              </a:rPr>
              <a:t>3-레인 러너 환경에서 DQN과 PPO를 기반으로 정책을 학습시키고, </a:t>
            </a:r>
            <a:br>
              <a:rPr lang="ko" sz="1517">
                <a:ea typeface="함초롬돋움"/>
                <a:cs typeface="함초롬돋움"/>
              </a:rPr>
            </a:br>
            <a:r>
              <a:rPr lang="ko" sz="1517">
                <a:latin typeface="함초롬돋움"/>
                <a:ea typeface="함초롬돋움"/>
                <a:cs typeface="함초롬돋움"/>
              </a:rPr>
              <a:t>보상 구조·스폰 메커니즘·환경 동역학이 정책 안정성 및 수행 성능에 미치는 영향을 </a:t>
            </a:r>
            <a:br>
              <a:rPr lang="ko" sz="1517">
                <a:ea typeface="함초롬돋움"/>
                <a:cs typeface="함초롬돋움"/>
              </a:rPr>
            </a:br>
            <a:r>
              <a:rPr lang="ko" sz="1517">
                <a:latin typeface="함초롬돋움"/>
                <a:ea typeface="함초롬돋움"/>
                <a:cs typeface="함초롬돋움"/>
              </a:rPr>
              <a:t>체계적으로 규명하는 강화학습 프로젝트</a:t>
            </a:r>
            <a:endParaRPr sz="1100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sp>
        <p:nvSpPr>
          <p:cNvPr id="36" name="Google Shape;36;g390e5c95e7f_0_25"/>
          <p:cNvSpPr txBox="1">
            <a:spLocks noGrp="1"/>
          </p:cNvSpPr>
          <p:nvPr>
            <p:ph type="body" idx="1"/>
          </p:nvPr>
        </p:nvSpPr>
        <p:spPr>
          <a:xfrm>
            <a:off x="0" y="2398525"/>
            <a:ext cx="9200700" cy="2203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700" b="1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목표</a:t>
            </a:r>
          </a:p>
          <a:p>
            <a:pPr marL="914400" lvl="1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500" b="1">
                <a:latin typeface="함초롬돋움"/>
                <a:ea typeface="함초롬돋움"/>
                <a:cs typeface="함초롬돋움"/>
                <a:sym typeface="Arial"/>
              </a:rPr>
              <a:t>게임 환경 구현</a:t>
            </a:r>
            <a:r>
              <a:rPr lang="ko" sz="1500">
                <a:latin typeface="함초롬돋움"/>
                <a:ea typeface="함초롬돋움"/>
                <a:cs typeface="함초롬돋움"/>
                <a:sym typeface="Arial"/>
              </a:rPr>
              <a:t>: 40개 패턴, 3가지 장애물 타입, 커리큘럼 학습</a:t>
            </a:r>
          </a:p>
          <a:p>
            <a:pPr marL="914400" lvl="1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500" b="1">
                <a:latin typeface="함초롬돋움"/>
                <a:ea typeface="함초롬돋움"/>
                <a:cs typeface="함초롬돋움"/>
                <a:sym typeface="Arial"/>
              </a:rPr>
              <a:t>알고리즘 구현</a:t>
            </a:r>
            <a:r>
              <a:rPr lang="ko" sz="1500">
                <a:latin typeface="함초롬돋움"/>
                <a:ea typeface="함초롬돋움"/>
                <a:cs typeface="함초롬돋움"/>
                <a:sym typeface="Arial"/>
              </a:rPr>
              <a:t>: DQN (Dueling + Double) / PPO (GAE + Clipping)</a:t>
            </a:r>
          </a:p>
          <a:p>
            <a:pPr marL="914400" lvl="1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500" b="1">
                <a:latin typeface="함초롬돋움"/>
                <a:ea typeface="함초롬돋움"/>
                <a:cs typeface="함초롬돋움"/>
                <a:sym typeface="Arial"/>
              </a:rPr>
              <a:t>성능 비교</a:t>
            </a:r>
            <a:r>
              <a:rPr lang="ko" sz="1500">
                <a:latin typeface="함초롬돋움"/>
                <a:ea typeface="함초롬돋움"/>
                <a:cs typeface="함초롬돋움"/>
                <a:sym typeface="Arial"/>
              </a:rPr>
              <a:t>: 학습 속도, 안정성, 최종 성능 정량 분석</a:t>
            </a:r>
          </a:p>
          <a:p>
            <a:pPr marL="914400" lvl="1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500" b="1">
                <a:latin typeface="함초롬돋움"/>
                <a:ea typeface="함초롬돋움"/>
                <a:cs typeface="함초롬돋움"/>
                <a:sym typeface="Arial"/>
              </a:rPr>
              <a:t>최적화</a:t>
            </a:r>
            <a:r>
              <a:rPr lang="ko" sz="1500">
                <a:latin typeface="함초롬돋움"/>
                <a:ea typeface="함초롬돋움"/>
                <a:cs typeface="함초롬돋움"/>
                <a:sym typeface="Arial"/>
              </a:rPr>
              <a:t>: 보상 함수, 네트워크 구조, 하이퍼파라미터 튜닝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25000"/>
              <a:buNone/>
              <a:defRPr/>
            </a:pPr>
            <a:endParaRPr sz="1500" b="1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pic>
        <p:nvPicPr>
          <p:cNvPr id="37" name="Google Shape;37;g390e5c95e7f_0_25" title="gam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5175" y="2087725"/>
            <a:ext cx="1977400" cy="293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e4609cd26_0_1"/>
          <p:cNvSpPr txBox="1">
            <a:spLocks noGrp="1"/>
          </p:cNvSpPr>
          <p:nvPr>
            <p:ph type="title"/>
          </p:nvPr>
        </p:nvSpPr>
        <p:spPr>
          <a:xfrm>
            <a:off x="156882" y="31427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500">
                <a:solidFill>
                  <a:srgbClr val="1C4587"/>
                </a:solidFill>
                <a:latin typeface="한컴 윤고딕 760"/>
                <a:ea typeface="한컴 윤고딕 760"/>
              </a:rPr>
              <a:t>팀 기여도</a:t>
            </a:r>
            <a:endParaRPr sz="18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graphicFrame>
        <p:nvGraphicFramePr>
          <p:cNvPr id="43" name="Google Shape;43;g3ae4609cd26_0_1"/>
          <p:cNvGraphicFramePr/>
          <p:nvPr/>
        </p:nvGraphicFramePr>
        <p:xfrm>
          <a:off x="952500" y="1581150"/>
          <a:ext cx="7239000" cy="2605950"/>
        </p:xfrm>
        <a:graphic>
          <a:graphicData uri="http://schemas.openxmlformats.org/drawingml/2006/table">
            <a:tbl>
              <a:tblPr>
                <a:noFill/>
                <a:tableStyleId>{6966D42A-7BFA-46C1-BC4E-2D15C2E9BB70}</a:tableStyleId>
              </a:tblPr>
              <a:tblGrid>
                <a:gridCol w="161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팀원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solidFill>
                      <a:srgbClr val="FFFF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역할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solidFill>
                      <a:srgbClr val="FFFF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기여도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solidFill>
                      <a:srgbClr val="FFFF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b="1">
                          <a:latin typeface="함초롬돋움"/>
                          <a:ea typeface="함초롬돋움"/>
                          <a:cs typeface="함초롬돋움"/>
                        </a:rPr>
                        <a:t>20211204 이지우</a:t>
                      </a:r>
                      <a:endParaRPr b="1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PPO + GAE</a:t>
                      </a: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 학습 파이프라인 구현 및 모델 최적화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3-Lane Infinite Runner 게임 환경 구현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렌더러 및 latency 테스트 작성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실험 시각화 및 모델 관리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프로젝트 README · 발표 자료 공동 제작</a:t>
                      </a:r>
                      <a:endParaRPr sz="110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50%</a:t>
                      </a:r>
                      <a:endParaRPr sz="1100" b="1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b="1">
                          <a:latin typeface="함초롬돋움"/>
                          <a:ea typeface="함초롬돋움"/>
                          <a:cs typeface="함초롬돋움"/>
                        </a:rPr>
                        <a:t>20231842 나정연</a:t>
                      </a:r>
                      <a:endParaRPr b="1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Double + Dueling DQN </a:t>
                      </a: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학습 파이프라인 구현 및 모델 최적화 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장애물 로직, 보상 함수 설계 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실험 시각화 및 모델 관리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게임 환경과 RL 학습 코드 연결</a:t>
                      </a: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Char char="-"/>
                        <a:defRPr/>
                      </a:pPr>
                      <a:r>
                        <a:rPr lang="ko" sz="11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프로젝트 README · 발표 자료 공동 제작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50%</a:t>
                      </a:r>
                      <a:endParaRPr sz="1100" b="1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27e3859b_0_24"/>
          <p:cNvSpPr txBox="1">
            <a:spLocks noGrp="1"/>
          </p:cNvSpPr>
          <p:nvPr>
            <p:ph type="body" idx="1"/>
          </p:nvPr>
        </p:nvSpPr>
        <p:spPr>
          <a:xfrm>
            <a:off x="56725" y="328650"/>
            <a:ext cx="8971800" cy="44862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/>
          </a:bodyPr>
          <a:lstStyle/>
          <a:p>
            <a:pPr marL="12065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155CC"/>
              </a:buClr>
              <a:buSzPct val="25000"/>
              <a:buNone/>
              <a:defRPr/>
            </a:pPr>
            <a:r>
              <a:rPr lang="en-US" altLang="ko-KR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1.</a:t>
            </a:r>
            <a:r>
              <a:rPr lang="ko-KR" altLang="en-US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환경 개요</a:t>
            </a:r>
          </a:p>
          <a:p>
            <a:pPr marL="9144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400" dirty="0">
                <a:latin typeface="함초롬돋움"/>
                <a:ea typeface="함초롬돋움"/>
                <a:cs typeface="함초롬돋움"/>
              </a:rPr>
              <a:t>3-lane 러너 시뮬레이션 환경을 사용하며, 에이전트는 장애물(A/B/C)을 회피하며</a:t>
            </a:r>
            <a:br>
              <a:rPr lang="ko" sz="1400" dirty="0">
                <a:ea typeface="함초롬돋움"/>
                <a:cs typeface="함초롬돋움"/>
              </a:rPr>
            </a:br>
            <a:r>
              <a:rPr lang="ko" sz="1400" dirty="0">
                <a:latin typeface="함초롬돋움"/>
                <a:ea typeface="함초롬돋움"/>
                <a:cs typeface="함초롬돋움"/>
              </a:rPr>
              <a:t>러닝 시간을 최대화하는 정책을 학습</a:t>
            </a:r>
          </a:p>
          <a:p>
            <a:pPr marL="9144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400" dirty="0">
                <a:latin typeface="함초롬돋움"/>
                <a:ea typeface="함초롬돋움"/>
                <a:cs typeface="함초롬돋움"/>
              </a:rPr>
              <a:t>시간 경과에 따라 난이도가 증가하는 절차적 환경</a:t>
            </a:r>
            <a:br>
              <a:rPr lang="ko" sz="1400" dirty="0">
                <a:ea typeface="함초롬돋움"/>
                <a:cs typeface="함초롬돋움"/>
              </a:rPr>
            </a:br>
            <a:endParaRPr lang="ko" sz="1400" dirty="0">
              <a:latin typeface="함초롬돋움"/>
              <a:ea typeface="함초롬돋움"/>
              <a:cs typeface="함초롬돋움"/>
            </a:endParaRPr>
          </a:p>
          <a:p>
            <a:pPr marL="1206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ct val="25000"/>
              <a:buNone/>
              <a:defRPr/>
            </a:pPr>
            <a:r>
              <a:rPr lang="en-US" altLang="ko-KR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2.</a:t>
            </a:r>
            <a:r>
              <a:rPr lang="ko-KR" altLang="en-US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장애물 스폰 구조(Spawn Mechanism) </a:t>
            </a:r>
            <a:br>
              <a:rPr lang="ko" sz="1700" b="1" dirty="0">
                <a:solidFill>
                  <a:srgbClr val="1155CC"/>
                </a:solidFill>
                <a:ea typeface="함초롬돋움"/>
                <a:cs typeface="함초롬돋움"/>
              </a:rPr>
            </a:br>
            <a:endParaRPr lang="ko" sz="1700" b="1" dirty="0">
              <a:solidFill>
                <a:srgbClr val="1155CC"/>
              </a:solidFill>
              <a:ea typeface="함초롬돋움"/>
              <a:cs typeface="함초롬돋움"/>
            </a:endParaRP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AutoNum type="alphaLcPeriod"/>
              <a:defRPr/>
            </a:pPr>
            <a:r>
              <a:rPr lang="ko" sz="14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난이도 기반 패턴 그룹 선택</a:t>
            </a:r>
            <a:r>
              <a:rPr lang="ko" sz="17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: </a:t>
            </a:r>
            <a:r>
              <a:rPr lang="ko" sz="12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시간경과(time_step)에 따라 난이도 분포가 점차 상승</a:t>
            </a: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200" dirty="0">
                <a:solidFill>
                  <a:srgbClr val="000000"/>
                </a:solidFill>
                <a:ea typeface="함초롬돋움"/>
                <a:cs typeface="함초롬돋움"/>
              </a:rPr>
              <a:t>		</a:t>
            </a:r>
            <a:r>
              <a:rPr lang="ko" sz="12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예시: </a:t>
            </a:r>
            <a:r>
              <a:rPr lang="ko" sz="10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0~600 step → easy 70%, medium 25%, hard 5%/1200 step 이후 → medium·hard 비중 증가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0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          </a:t>
            </a:r>
            <a:r>
              <a:rPr lang="en-US" altLang="ko" sz="10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	</a:t>
            </a:r>
            <a:r>
              <a:rPr lang="ko" sz="11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→ 난이도 증가형</a:t>
            </a:r>
          </a:p>
          <a:p>
            <a:pPr marL="914400" lvl="1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25000"/>
              <a:buAutoNum type="alphaLcPeriod"/>
              <a:defRPr/>
            </a:pPr>
            <a:r>
              <a:rPr lang="ko" sz="14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난이도 내 패턴 선택 : </a:t>
            </a:r>
            <a:r>
              <a:rPr lang="ko" sz="12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각 difficulty에는 사전에 정의된 obstacle pattern이 존재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</a:rPr>
              <a:t>예시: </a:t>
            </a:r>
            <a:r>
              <a:rPr lang="ko" sz="1000" dirty="0">
                <a:latin typeface="함초롬돋움"/>
                <a:ea typeface="함초롬돋움"/>
                <a:cs typeface="함초롬돋움"/>
              </a:rPr>
              <a:t>easy: 단일 레인 1개 obstacle/medium: 2레인 혼합/hard: 3레인 복합 또는 C형 구조</a:t>
            </a:r>
          </a:p>
          <a:p>
            <a:pPr marL="914400" lvl="1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25000"/>
              <a:buAutoNum type="alphaLcPeriod"/>
              <a:defRPr/>
            </a:pPr>
            <a:r>
              <a:rPr lang="ko" sz="14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패턴 스폰 밀도 증가 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" sz="10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초기 spawn_interval = 50/시간이 지날수록 40 → 30 → 20으로 감소</a:t>
            </a:r>
          </a:p>
          <a:p>
            <a:pPr marL="457200" lvl="0" indent="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" sz="10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→ 장애물 밀도가 점차 올라감</a:t>
            </a:r>
            <a:endParaRPr sz="1700" b="1" dirty="0">
              <a:solidFill>
                <a:srgbClr val="1155CC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9" name="Google Shape;49;g3a927e3859b_0_24"/>
          <p:cNvSpPr txBox="1"/>
          <p:nvPr/>
        </p:nvSpPr>
        <p:spPr>
          <a:xfrm>
            <a:off x="6507870" y="3766722"/>
            <a:ext cx="3256200" cy="1296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b="1" dirty="0">
                <a:solidFill>
                  <a:srgbClr val="0070C0"/>
                </a:solidFill>
                <a:latin typeface="함초롬돋움"/>
                <a:ea typeface="함초롬돋움"/>
                <a:cs typeface="함초롬돋움"/>
                <a:sym typeface="Calibri"/>
              </a:rPr>
              <a:t>*  장애물 구성</a:t>
            </a: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A 장애물은 </a:t>
            </a:r>
            <a:r>
              <a:rPr lang="ko" sz="12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점프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B 장애물은 </a:t>
            </a:r>
            <a:r>
              <a:rPr lang="ko" sz="12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슬라이드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/>
            </a:pPr>
            <a:r>
              <a:rPr 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C 장애물은 회피 불가로 충돌 시 </a:t>
            </a:r>
            <a:br>
              <a:rPr lang="en-US" alt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</a:br>
            <a:r>
              <a:rPr 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즉시 종료</a:t>
            </a:r>
            <a:br>
              <a:rPr lang="ko" sz="1200" dirty="0">
                <a:solidFill>
                  <a:schemeClr val="dk1"/>
                </a:solidFill>
                <a:ea typeface="함초롬돋움"/>
                <a:cs typeface="함초롬돋움"/>
                <a:sym typeface="Calibri"/>
              </a:rPr>
            </a:br>
            <a:r>
              <a:rPr 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(</a:t>
            </a:r>
            <a:r>
              <a:rPr lang="ko" sz="12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좌우이동</a:t>
            </a:r>
            <a:r>
              <a:rPr lang="ko" sz="12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  <a:sym typeface="Calibri"/>
              </a:rPr>
              <a:t>으로만 회피 가능)</a:t>
            </a:r>
            <a:endParaRPr sz="1200" dirty="0">
              <a:solidFill>
                <a:schemeClr val="dk1"/>
              </a:solidFill>
              <a:latin typeface="함초롬돋움"/>
              <a:ea typeface="함초롬돋움"/>
              <a:cs typeface="함초롬돋움"/>
              <a:sym typeface="Calibri"/>
            </a:endParaRPr>
          </a:p>
        </p:txBody>
      </p:sp>
      <p:sp>
        <p:nvSpPr>
          <p:cNvPr id="50" name="Google Shape;50;g3a927e3859b_0_24"/>
          <p:cNvSpPr txBox="1">
            <a:spLocks noGrp="1"/>
          </p:cNvSpPr>
          <p:nvPr>
            <p:ph type="title"/>
          </p:nvPr>
        </p:nvSpPr>
        <p:spPr>
          <a:xfrm>
            <a:off x="56732" y="947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300" dirty="0">
                <a:solidFill>
                  <a:srgbClr val="1C4587"/>
                </a:solidFill>
                <a:latin typeface="한컴 윤고딕 760"/>
                <a:ea typeface="한컴 윤고딕 760"/>
              </a:rPr>
              <a:t>환경 및 데이터셋 설명</a:t>
            </a:r>
            <a:endParaRPr sz="2300" b="0" dirty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5da20bcc_1_11"/>
          <p:cNvSpPr txBox="1">
            <a:spLocks noGrp="1"/>
          </p:cNvSpPr>
          <p:nvPr>
            <p:ph type="title"/>
          </p:nvPr>
        </p:nvSpPr>
        <p:spPr>
          <a:xfrm>
            <a:off x="56732" y="947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300">
                <a:solidFill>
                  <a:srgbClr val="1C4587"/>
                </a:solidFill>
                <a:latin typeface="한컴 윤고딕 760"/>
                <a:ea typeface="한컴 윤고딕 760"/>
              </a:rPr>
              <a:t>환경 및 데이터셋 설명(Cont.)</a:t>
            </a:r>
            <a:endParaRPr sz="23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56" name="Google Shape;56;g3ad5da20bcc_1_11"/>
          <p:cNvSpPr txBox="1">
            <a:spLocks noGrp="1"/>
          </p:cNvSpPr>
          <p:nvPr>
            <p:ph type="body" idx="1"/>
          </p:nvPr>
        </p:nvSpPr>
        <p:spPr>
          <a:xfrm>
            <a:off x="56725" y="505525"/>
            <a:ext cx="9018300" cy="44295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/>
          </a:bodyPr>
          <a:lstStyle/>
          <a:p>
            <a:pPr marL="120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155CC"/>
              </a:buClr>
              <a:buSzPct val="25000"/>
              <a:buNone/>
              <a:defRPr/>
            </a:pPr>
            <a:r>
              <a:rPr lang="en-US" altLang="ko-KR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3.</a:t>
            </a:r>
            <a:r>
              <a:rPr lang="ko-KR" altLang="en-US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환경 동역학(Environment Dynamics)</a:t>
            </a:r>
          </a:p>
          <a:p>
            <a:pPr marL="9144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플레이어 속도(speed)는 매 스텝 0.001씩 증가하며 최대 3.0에 도달</a:t>
            </a:r>
          </a:p>
          <a:p>
            <a:pPr marL="9144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agent-장애물 간 거리는 매 step 다음과 같이 갱신</a:t>
            </a:r>
          </a:p>
          <a:p>
            <a:pPr marL="457200" lvl="0" indent="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* dist -= 0.03 * speed</a:t>
            </a:r>
          </a:p>
          <a:p>
            <a:pPr marL="914400" lvl="0" indent="-3238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점프/슬라이드는 프레임 기반 지속시간(max 15프레임)을 가짐</a:t>
            </a:r>
          </a:p>
          <a:p>
            <a:pPr marL="9144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충돌 판정은 dist ≤ 0.15 구간에서 수행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517" dirty="0">
              <a:latin typeface="함초롬돋움"/>
              <a:ea typeface="함초롬돋움"/>
              <a:cs typeface="함초롬돋움"/>
            </a:endParaRPr>
          </a:p>
          <a:p>
            <a:pPr marL="120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155CC"/>
              </a:buClr>
              <a:buSzPct val="25000"/>
              <a:buNone/>
              <a:defRPr/>
            </a:pPr>
            <a:r>
              <a:rPr lang="en-US" altLang="ko-KR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4.</a:t>
            </a:r>
            <a:r>
              <a:rPr lang="ko-KR" altLang="en-US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 </a:t>
            </a: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Episode Termination &amp; Info : </a:t>
            </a:r>
            <a:r>
              <a:rPr lang="ko" sz="1500" dirty="0">
                <a:latin typeface="함초롬돋움"/>
                <a:ea typeface="함초롬돋움"/>
                <a:cs typeface="함초롬돋움"/>
              </a:rPr>
              <a:t>충돌 시 done=True이며, info에는 다음이 포함</a:t>
            </a: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death_reason</a:t>
            </a: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death_reason_code (A_no_jump / B_no_slide / C_unavoidable)</a:t>
            </a: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survival_time</a:t>
            </a: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사용된 패턴(difficulty, pattern_group, pattern_name)</a:t>
            </a: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player의 사망 시점에서의 speed, time_step</a:t>
            </a: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 dirty="0">
                <a:ea typeface="함초롬돋움"/>
                <a:cs typeface="함초롬돋움"/>
              </a:rPr>
              <a:t>	</a:t>
            </a:r>
            <a:r>
              <a:rPr lang="ko" sz="1500" dirty="0">
                <a:latin typeface="함초롬돋움"/>
                <a:ea typeface="함초롬돋움"/>
                <a:cs typeface="함초롬돋움"/>
              </a:rPr>
              <a:t>→ 알고리즘 비교 실험에서 성능·실패 모드 분석 지표</a:t>
            </a:r>
            <a:endParaRPr sz="1500" dirty="0">
              <a:latin typeface="함초롬돋움"/>
              <a:ea typeface="함초롬돋움"/>
              <a:cs typeface="함초롬돋움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927e3859b_0_39"/>
          <p:cNvSpPr txBox="1">
            <a:spLocks noGrp="1"/>
          </p:cNvSpPr>
          <p:nvPr>
            <p:ph type="title"/>
          </p:nvPr>
        </p:nvSpPr>
        <p:spPr>
          <a:xfrm>
            <a:off x="228007" y="22995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>
                <a:solidFill>
                  <a:srgbClr val="1C4587"/>
                </a:solidFill>
                <a:latin typeface="한컴 윤고딕 760"/>
                <a:ea typeface="한컴 윤고딕 760"/>
              </a:rPr>
              <a:t>State, Action, Reward 설명</a:t>
            </a:r>
            <a:endParaRPr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62" name="Google Shape;62;g3a927e3859b_0_39"/>
          <p:cNvSpPr txBox="1">
            <a:spLocks noGrp="1"/>
          </p:cNvSpPr>
          <p:nvPr>
            <p:ph type="body" idx="1"/>
          </p:nvPr>
        </p:nvSpPr>
        <p:spPr>
          <a:xfrm>
            <a:off x="0" y="694600"/>
            <a:ext cx="9144000" cy="444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68575" tIns="34275" rIns="68575" bIns="3427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24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1. State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700" b="1" dirty="0">
                <a:latin typeface="함초롬돋움"/>
                <a:ea typeface="함초롬돋움"/>
                <a:cs typeface="함초롬돋움"/>
              </a:rPr>
              <a:t>state vector : 총 33차원으로 구성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ct val="25000"/>
              <a:buChar char="•"/>
              <a:defRPr/>
            </a:pPr>
            <a:r>
              <a:rPr lang="ko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Player info (3차원) : </a:t>
            </a: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 b="1" dirty="0">
                <a:ea typeface="함초롬돋움"/>
                <a:cs typeface="함초롬돋움"/>
              </a:rPr>
              <a:t>	</a:t>
            </a:r>
            <a:r>
              <a:rPr lang="ko" sz="1400" dirty="0">
                <a:latin typeface="함초롬돋움"/>
                <a:ea typeface="함초롬돋움"/>
                <a:cs typeface="함초롬돋움"/>
              </a:rPr>
              <a:t>player_lane ∈ {0,1,2}, speed ∈ [0,3], time_ratio ∈ [0,1]</a:t>
            </a:r>
          </a:p>
          <a:p>
            <a:pPr marL="45720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400" dirty="0">
                <a:ea typeface="함초롬돋움"/>
                <a:cs typeface="함초롬돋움"/>
              </a:rPr>
              <a:t>	</a:t>
            </a:r>
            <a:r>
              <a:rPr lang="ko" sz="1400" dirty="0">
                <a:latin typeface="함초롬돋움"/>
                <a:ea typeface="함초롬돋움"/>
                <a:cs typeface="함초롬돋움"/>
              </a:rPr>
              <a:t>플레이어 레인 위치, </a:t>
            </a:r>
            <a:endParaRPr lang="en-US" altLang="ko" sz="1400" dirty="0">
              <a:latin typeface="함초롬돋움"/>
              <a:ea typeface="함초롬돋움"/>
              <a:cs typeface="함초롬돋움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en-US" altLang="ko" sz="1400" dirty="0">
                <a:latin typeface="함초롬돋움"/>
                <a:ea typeface="함초롬돋움"/>
                <a:cs typeface="함초롬돋움"/>
              </a:rPr>
              <a:t>	</a:t>
            </a:r>
            <a:r>
              <a:rPr lang="ko" sz="1400" dirty="0">
                <a:latin typeface="함초롬돋움"/>
                <a:ea typeface="함초롬돋움"/>
                <a:cs typeface="함초롬돋움"/>
              </a:rPr>
              <a:t>현재 속도(0~3 사이 continuous 실수), </a:t>
            </a:r>
            <a:br>
              <a:rPr lang="en-US" altLang="ko" sz="1400" dirty="0">
                <a:latin typeface="함초롬돋움"/>
                <a:ea typeface="함초롬돋움"/>
                <a:cs typeface="함초롬돋움"/>
              </a:rPr>
            </a:br>
            <a:r>
              <a:rPr lang="en-US" altLang="ko" sz="1400" dirty="0">
                <a:latin typeface="함초롬돋움"/>
                <a:ea typeface="함초롬돋움"/>
                <a:cs typeface="함초롬돋움"/>
              </a:rPr>
              <a:t>	</a:t>
            </a:r>
            <a:r>
              <a:rPr lang="ko" sz="1400" dirty="0">
                <a:latin typeface="함초롬돋움"/>
                <a:ea typeface="함초롬돋움"/>
                <a:cs typeface="함초롬돋움"/>
              </a:rPr>
              <a:t>에피소드 진행도 (time_step / max_time_steps)</a:t>
            </a:r>
          </a:p>
          <a:p>
            <a:pPr marL="914400" lvl="0" indent="-3302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1155CC"/>
              </a:buClr>
              <a:buSzPct val="25000"/>
              <a:buChar char="•"/>
              <a:defRPr/>
            </a:pPr>
            <a:r>
              <a:rPr lang="ko" sz="1600" b="1" dirty="0">
                <a:solidFill>
                  <a:srgbClr val="1155CC"/>
                </a:solidFill>
                <a:highlight>
                  <a:schemeClr val="lt1"/>
                </a:highlight>
                <a:latin typeface="함초롬돋움"/>
                <a:ea typeface="함초롬돋움"/>
                <a:cs typeface="함초롬돋움"/>
              </a:rPr>
              <a:t> Obstacle info (각 lane당 2개, 총 6개 x 5차원 = 30차원) :</a:t>
            </a:r>
            <a:r>
              <a:rPr lang="ko" sz="1600" b="1" dirty="0">
                <a:highlight>
                  <a:schemeClr val="lt1"/>
                </a:highlight>
                <a:latin typeface="함초롬돋움"/>
                <a:ea typeface="함초롬돋움"/>
                <a:cs typeface="함초롬돋움"/>
              </a:rPr>
              <a:t> </a:t>
            </a:r>
          </a:p>
          <a:p>
            <a:pPr marL="13716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400" dirty="0">
                <a:latin typeface="함초롬돋움"/>
                <a:ea typeface="함초롬돋움"/>
                <a:cs typeface="함초롬돋움"/>
              </a:rPr>
              <a:t>각 장애물은 다음 5개의 특징으로 표현 </a:t>
            </a:r>
          </a:p>
          <a:p>
            <a:pPr marL="1828800" lvl="2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</a:rPr>
              <a:t>exists (bool) : 장애물의 존재 여부</a:t>
            </a:r>
          </a:p>
          <a:p>
            <a:pPr marL="1828800" lvl="2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</a:rPr>
              <a:t>dist (0~1) : 장애물까지의 상대 거리</a:t>
            </a:r>
          </a:p>
          <a:p>
            <a:pPr marL="1828800" lvl="2" indent="-304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</a:rPr>
              <a:t>is_A, is_B, is_C : 장애물 타입에 대한 One-Hot encoding</a:t>
            </a:r>
          </a:p>
          <a:p>
            <a:pPr marL="18288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</a:rPr>
              <a:t>→ 3개 lane x 첫번째 장애물 + 3개 lane x 두번째 장애물 = (3 x 5) + (3 x 5) = 30차원</a:t>
            </a:r>
          </a:p>
          <a:p>
            <a:pPr marL="457200" lvl="0" indent="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 b="1" dirty="0">
                <a:solidFill>
                  <a:srgbClr val="CC0000"/>
                </a:solidFill>
                <a:latin typeface="함초롬돋움"/>
                <a:ea typeface="함초롬돋움"/>
                <a:cs typeface="함초롬돋움"/>
              </a:rPr>
              <a:t>★ 최종 state : [player_info 3] + [obstacle_info 30] = 33차원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500" dirty="0">
                <a:latin typeface="함초롬돋움"/>
                <a:ea typeface="함초롬돋움"/>
                <a:cs typeface="함초롬돋움"/>
              </a:rPr>
              <a:t>초기 state : lane1, speed1.0, time ratio 0., None</a:t>
            </a:r>
            <a:endParaRPr sz="1500" dirty="0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d5da20bcc_1_49"/>
          <p:cNvSpPr txBox="1">
            <a:spLocks noGrp="1"/>
          </p:cNvSpPr>
          <p:nvPr>
            <p:ph type="title"/>
          </p:nvPr>
        </p:nvSpPr>
        <p:spPr>
          <a:xfrm>
            <a:off x="228007" y="22995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>
                <a:solidFill>
                  <a:srgbClr val="1C4587"/>
                </a:solidFill>
                <a:latin typeface="한컴 윤고딕 760"/>
                <a:ea typeface="한컴 윤고딕 760"/>
              </a:rPr>
              <a:t>State, Action, Reward 설명 (Cont.)</a:t>
            </a:r>
            <a:endParaRPr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68" name="Google Shape;68;g3ad5da20bcc_1_49"/>
          <p:cNvSpPr txBox="1">
            <a:spLocks noGrp="1"/>
          </p:cNvSpPr>
          <p:nvPr>
            <p:ph type="body" idx="1"/>
          </p:nvPr>
        </p:nvSpPr>
        <p:spPr>
          <a:xfrm>
            <a:off x="0" y="885300"/>
            <a:ext cx="9144000" cy="417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2400" b="1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2. Action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700">
                <a:latin typeface="함초롬돋움"/>
                <a:ea typeface="함초롬돋움"/>
                <a:cs typeface="함초롬돋움"/>
              </a:rPr>
              <a:t>Action space : 5차원의 discrete space 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0: 유지 (stay)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1: 왼쪽 이동 (left)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2: 오른쪽 이동 (right)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3: 점프 (jump)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60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4: 슬라이드 (slide)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25000"/>
              <a:buChar char="•"/>
              <a:defRPr/>
            </a:pPr>
            <a:r>
              <a:rPr lang="ko" sz="160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Obstacle 별 해야할 Action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Char char="•"/>
              <a:defRPr/>
            </a:pPr>
            <a:r>
              <a:rPr lang="ko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 장애물 : Jump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Char char="•"/>
              <a:defRPr/>
            </a:pPr>
            <a:r>
              <a:rPr lang="ko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B 장애물 : Slide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Char char="•"/>
              <a:defRPr/>
            </a:pPr>
            <a:r>
              <a:rPr lang="ko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C 장애물 : 좌우 이동 제외 회피 불가 </a:t>
            </a:r>
          </a:p>
          <a:p>
            <a:pPr marL="0" lvl="0" indent="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b="1">
                <a:solidFill>
                  <a:srgbClr val="990000"/>
                </a:solidFill>
                <a:latin typeface="함초롬돋움"/>
                <a:ea typeface="함초롬돋움"/>
                <a:cs typeface="함초롬돋움"/>
              </a:rPr>
              <a:t>★ 모든 장애물은 충돌 즉시 episode가 종료됨</a:t>
            </a:r>
            <a:endParaRPr b="1">
              <a:solidFill>
                <a:srgbClr val="99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5da20bcc_1_60"/>
          <p:cNvSpPr txBox="1">
            <a:spLocks noGrp="1"/>
          </p:cNvSpPr>
          <p:nvPr>
            <p:ph type="title"/>
          </p:nvPr>
        </p:nvSpPr>
        <p:spPr>
          <a:xfrm>
            <a:off x="228007" y="22995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500">
                <a:solidFill>
                  <a:srgbClr val="1C4587"/>
                </a:solidFill>
                <a:latin typeface="한컴 윤고딕 760"/>
                <a:ea typeface="한컴 윤고딕 760"/>
              </a:rPr>
              <a:t>State, Action, Reward 설명 (Cont.)</a:t>
            </a:r>
            <a:endParaRPr sz="250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74" name="Google Shape;74;g3ad5da20bcc_1_60"/>
          <p:cNvSpPr txBox="1">
            <a:spLocks noGrp="1"/>
          </p:cNvSpPr>
          <p:nvPr>
            <p:ph type="body" idx="1"/>
          </p:nvPr>
        </p:nvSpPr>
        <p:spPr>
          <a:xfrm>
            <a:off x="0" y="972425"/>
            <a:ext cx="9115800" cy="4171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w="sm" len="sm"/>
            <a:tailEnd w="sm" len="sm"/>
          </a:ln>
        </p:spPr>
        <p:txBody>
          <a:bodyPr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2300" b="1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 3. Reward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7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기본 생존 보상 </a:t>
            </a: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5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매 time step 마다 +0.1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7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장애물 회피 보상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5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장애물이 dist ≤ 0에 도달하면 지나간 것으로 간주하여 보상을 부여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5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A/B 장애물</a:t>
            </a: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적절한 action 취해서 생존시 +2.0</a:t>
            </a: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다른 action으로 생존시 +1.0 ➡ exploration 유도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5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C 장애물</a:t>
            </a: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적절한 action 취해서 생존시 +2.0</a:t>
            </a: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다른 action시 바로 episode terminate</a:t>
            </a: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5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Penalty</a:t>
            </a: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이동 penalty : 불필요한 lane 이동시, -0.01</a:t>
            </a: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ct val="25000"/>
              <a:buChar char="•"/>
              <a:defRPr/>
            </a:pP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충돌 penalty : 장애물 피하지 못할시 -10.0, episode terminate</a:t>
            </a: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>
                <a:solidFill>
                  <a:srgbClr val="212529"/>
                </a:solidFill>
                <a:ea typeface="함초롬돋움"/>
                <a:cs typeface="함초롬돋움"/>
              </a:rPr>
              <a:t>			</a:t>
            </a:r>
            <a:r>
              <a:rPr lang="ko" sz="1300">
                <a:solidFill>
                  <a:srgbClr val="212529"/>
                </a:solidFill>
                <a:latin typeface="함초롬돋움"/>
                <a:ea typeface="함초롬돋움"/>
                <a:cs typeface="함초롬돋움"/>
              </a:rPr>
              <a:t>(사망사유는 통계로 저장됨 :  (A_no_jump, B_no_slide, C_unavoidable))</a:t>
            </a:r>
            <a:endParaRPr sz="1300">
              <a:solidFill>
                <a:srgbClr val="212529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27e3859b_0_85"/>
          <p:cNvSpPr txBox="1">
            <a:spLocks noGrp="1"/>
          </p:cNvSpPr>
          <p:nvPr>
            <p:ph type="title"/>
          </p:nvPr>
        </p:nvSpPr>
        <p:spPr>
          <a:xfrm>
            <a:off x="228007" y="35810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강화학습 알고리즘 및 hyperparameter 등 설명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80" name="Google Shape;80;g3a927e3859b_0_85"/>
          <p:cNvSpPr txBox="1">
            <a:spLocks noGrp="1"/>
          </p:cNvSpPr>
          <p:nvPr>
            <p:ph type="body" idx="1"/>
          </p:nvPr>
        </p:nvSpPr>
        <p:spPr>
          <a:xfrm>
            <a:off x="360500" y="879650"/>
            <a:ext cx="45939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ko" sz="2100" b="1">
                <a:solidFill>
                  <a:srgbClr val="1155CC"/>
                </a:solidFill>
              </a:rPr>
              <a:t>DQN - 코드 주요 부분 설명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3a927e3859b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5" y="1304450"/>
            <a:ext cx="2748375" cy="15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a927e3859b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2049" y="1304454"/>
            <a:ext cx="2962916" cy="374137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a927e3859b_0_85"/>
          <p:cNvSpPr txBox="1"/>
          <p:nvPr/>
        </p:nvSpPr>
        <p:spPr>
          <a:xfrm>
            <a:off x="6055650" y="1304450"/>
            <a:ext cx="3016200" cy="2367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500" b="1">
                <a:solidFill>
                  <a:srgbClr val="980000"/>
                </a:solidFill>
                <a:latin typeface="함초롬돋움"/>
                <a:ea typeface="함초롬돋움"/>
                <a:cs typeface="함초롬돋움"/>
              </a:rPr>
              <a:t>Dueling DQN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Value Stream + Advantage Stream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으로 분리하여 더 안정적, 샘플 효율 향상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Feature Layer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상태 → 고차원 특징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Value Stream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V(s) 출력</a:t>
            </a:r>
            <a:br>
              <a:rPr lang="ko" sz="1100">
                <a:solidFill>
                  <a:schemeClr val="dk1"/>
                </a:solidFill>
                <a:ea typeface="함초롬돋움"/>
                <a:cs typeface="함초롬돋움"/>
              </a:rPr>
            </a:br>
            <a:endParaRPr lang="ko"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Advantage Stream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A(s, a) 출력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84" name="Google Shape;84;g3a927e3859b_0_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9156" y="2821649"/>
            <a:ext cx="3013167" cy="4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5da20bcc_1_95"/>
          <p:cNvSpPr txBox="1">
            <a:spLocks noGrp="1"/>
          </p:cNvSpPr>
          <p:nvPr>
            <p:ph type="title"/>
          </p:nvPr>
        </p:nvSpPr>
        <p:spPr>
          <a:xfrm>
            <a:off x="228007" y="35810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강화학습 알고리즘 및 hyperparameter 등 설명 (Cont.)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90" name="Google Shape;90;g3ad5da20bcc_1_95"/>
          <p:cNvSpPr txBox="1">
            <a:spLocks noGrp="1"/>
          </p:cNvSpPr>
          <p:nvPr>
            <p:ph type="body" idx="1"/>
          </p:nvPr>
        </p:nvSpPr>
        <p:spPr>
          <a:xfrm>
            <a:off x="360500" y="879650"/>
            <a:ext cx="38595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ko" sz="2100" b="1">
                <a:solidFill>
                  <a:srgbClr val="1155CC"/>
                </a:solidFill>
              </a:rPr>
              <a:t>DQN - 코드 주요 부분 설명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d5da20bcc_1_95"/>
          <p:cNvSpPr txBox="1"/>
          <p:nvPr/>
        </p:nvSpPr>
        <p:spPr>
          <a:xfrm>
            <a:off x="5916750" y="1384350"/>
            <a:ext cx="3227100" cy="2442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학습 절차</a:t>
            </a:r>
            <a:endParaRPr lang="ko"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1.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256개 환경에서 동시에 transition 수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집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2.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Epsilon-greedy 행동 선택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3.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Replay Buffer에 저장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4.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N-step마다(learn_every) Mini-batch 학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습</a:t>
            </a:r>
            <a:endParaRPr lang="ko"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5.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Target Network 주기적 업데이트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6.</a:t>
            </a:r>
            <a:r>
              <a:rPr lang="ko-KR" altLang="en-US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Episode reward 기록 + best model 저장</a:t>
            </a:r>
            <a:br>
              <a:rPr lang="ko" sz="1100">
                <a:solidFill>
                  <a:schemeClr val="dk1"/>
                </a:solidFill>
                <a:ea typeface="함초롬돋움"/>
                <a:cs typeface="함초롬돋움"/>
              </a:rPr>
            </a:br>
            <a:endParaRPr lang="ko" sz="1100">
              <a:solidFill>
                <a:schemeClr val="dk1"/>
              </a:solidFill>
              <a:ea typeface="함초롬돋움"/>
              <a:cs typeface="함초롬돋움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1300" b="1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92" name="Google Shape;92;g3ad5da20bcc_1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13" y="1304450"/>
            <a:ext cx="3339888" cy="345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ad5da20bcc_1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350" y="1304449"/>
            <a:ext cx="2435390" cy="353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5da20bcc_1_106"/>
          <p:cNvSpPr txBox="1">
            <a:spLocks noGrp="1"/>
          </p:cNvSpPr>
          <p:nvPr>
            <p:ph type="title"/>
          </p:nvPr>
        </p:nvSpPr>
        <p:spPr>
          <a:xfrm>
            <a:off x="228007" y="35810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강화학습 알고리즘 및 hyperparameter 등 설명 (Cont.)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99" name="Google Shape;99;g3ad5da20bcc_1_106"/>
          <p:cNvSpPr txBox="1">
            <a:spLocks noGrp="1"/>
          </p:cNvSpPr>
          <p:nvPr>
            <p:ph type="body" idx="1"/>
          </p:nvPr>
        </p:nvSpPr>
        <p:spPr>
          <a:xfrm>
            <a:off x="410100" y="782900"/>
            <a:ext cx="52209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5194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ko" sz="2100" b="1">
                <a:solidFill>
                  <a:srgbClr val="1155CC"/>
                </a:solidFill>
              </a:rPr>
              <a:t>DQN - hyperparameter 설명(최종버전 기준)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ad5da20bcc_1_106"/>
          <p:cNvSpPr txBox="1"/>
          <p:nvPr/>
        </p:nvSpPr>
        <p:spPr>
          <a:xfrm>
            <a:off x="228000" y="3163600"/>
            <a:ext cx="6935400" cy="191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num_episodes = </a:t>
            </a:r>
            <a:r>
              <a:rPr lang="en-US" alt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7</a:t>
            </a: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000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num_envs = 256 : vectorized env의 병렬 수 (보통 64~512)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buffer_capacity = 2_000_000 : 매 step마다 256개 transition 저장 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batch_size = </a:t>
            </a:r>
            <a:r>
              <a:rPr lang="en-US" alt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8192</a:t>
            </a: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 : 대규모 배치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gamma = 0.9</a:t>
            </a:r>
            <a:r>
              <a:rPr lang="en-US" alt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85</a:t>
            </a: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 : 장기적 보상 반영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lr = 1e-4 : 학습률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start_learning = </a:t>
            </a:r>
            <a:r>
              <a:rPr lang="en-US" alt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5</a:t>
            </a: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0000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learn_every = 2 : 매 step마다 학습시 연산 overhead 증가. 안정적 학습을 위해 2~4 step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2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target_update_interval = 5000 : target network update 주기 </a:t>
            </a:r>
            <a:endParaRPr sz="1200" dirty="0">
              <a:solidFill>
                <a:schemeClr val="dk2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771D15-28F1-1205-76EA-31B9B8760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00" y="1166616"/>
            <a:ext cx="5556456" cy="1914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d5da20bcc_1_137"/>
          <p:cNvSpPr txBox="1">
            <a:spLocks noGrp="1"/>
          </p:cNvSpPr>
          <p:nvPr>
            <p:ph type="title"/>
          </p:nvPr>
        </p:nvSpPr>
        <p:spPr>
          <a:xfrm>
            <a:off x="228007" y="35810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강화학습 알고리즘 및 hyperparameter 등 설명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07" name="Google Shape;107;g3ad5da20bcc_1_137"/>
          <p:cNvSpPr txBox="1">
            <a:spLocks noGrp="1"/>
          </p:cNvSpPr>
          <p:nvPr>
            <p:ph type="body" idx="1"/>
          </p:nvPr>
        </p:nvSpPr>
        <p:spPr>
          <a:xfrm>
            <a:off x="410100" y="782900"/>
            <a:ext cx="38595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ko" sz="2100" b="1">
                <a:solidFill>
                  <a:srgbClr val="1155CC"/>
                </a:solidFill>
              </a:rPr>
              <a:t>PPO - 주요 코드 설명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d5da20bcc_1_137"/>
          <p:cNvSpPr txBox="1"/>
          <p:nvPr/>
        </p:nvSpPr>
        <p:spPr>
          <a:xfrm>
            <a:off x="4347875" y="1489650"/>
            <a:ext cx="4796100" cy="2164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  <a:defRPr/>
            </a:pPr>
            <a:r>
              <a:rPr lang="ko" sz="16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compute_gae 함수</a:t>
            </a:r>
            <a:br>
              <a:rPr lang="ko" b="1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</a:t>
            </a: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trajectory 한 에피소드(rollout)에 대해 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TD error를 기반으로 GAE</a:t>
            </a:r>
            <a:r>
              <a:rPr lang="ko" sz="10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(Generalized Advantage Estimation)</a:t>
            </a: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를 계산. 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γ, λ를 활용해 bias–variance trade-off를 조절. </a:t>
            </a:r>
          </a:p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결과로 나온</a:t>
            </a:r>
            <a:br>
              <a:rPr lang="ko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advantages</a:t>
            </a:r>
            <a:r>
              <a:rPr lang="ko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policy gradient에 사용</a:t>
            </a:r>
            <a:br>
              <a:rPr lang="ko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returns = </a:t>
            </a:r>
            <a:r>
              <a:rPr lang="ko" sz="10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advantages + values</a:t>
            </a:r>
            <a:r>
              <a:rPr lang="ko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critic 학습 target으로 사용</a:t>
            </a: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2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9" name="Google Shape;109;g3ad5da20bcc_1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00" y="1207700"/>
            <a:ext cx="4138099" cy="37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d5da20bcc_1_15"/>
          <p:cNvSpPr txBox="1">
            <a:spLocks noGrp="1"/>
          </p:cNvSpPr>
          <p:nvPr>
            <p:ph type="title"/>
          </p:nvPr>
        </p:nvSpPr>
        <p:spPr>
          <a:xfrm>
            <a:off x="228007" y="35810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강화학습 알고리즘 및 hyperparameter 등 설명(Cont.)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pic>
        <p:nvPicPr>
          <p:cNvPr id="115" name="Google Shape;115;g3ad5da20bcc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00" y="1325850"/>
            <a:ext cx="2885288" cy="29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ad5da20bcc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8738" y="1325858"/>
            <a:ext cx="2885282" cy="325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d5da20bcc_1_15"/>
          <p:cNvSpPr txBox="1"/>
          <p:nvPr/>
        </p:nvSpPr>
        <p:spPr>
          <a:xfrm>
            <a:off x="5864725" y="1521746"/>
            <a:ext cx="3231900" cy="21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" sz="15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학습절차</a:t>
            </a:r>
            <a:br>
              <a:rPr lang="ko" sz="1100">
                <a:solidFill>
                  <a:schemeClr val="dk1"/>
                </a:solidFill>
                <a:ea typeface="함초롬돋움"/>
                <a:cs typeface="함초롬돋움"/>
              </a:rPr>
            </a:br>
            <a:br>
              <a:rPr lang="ko" sz="1100">
                <a:solidFill>
                  <a:schemeClr val="dk1"/>
                </a:solidFill>
                <a:ea typeface="함초롬돋움"/>
                <a:cs typeface="함초롬돋움"/>
              </a:rPr>
            </a:b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1. 256개 환경에서 동시에 rollout 데이터 수집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2. 정책 기반 행동 선택 (stochastic policy)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3. Rollout Buffer에 transition 저장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4. GAE 계산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5. PPO mini batch 업데이트</a:t>
            </a:r>
            <a:br>
              <a:rPr lang="ko" sz="12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2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6. Episode Reward 로깅</a:t>
            </a: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  <a:defRPr/>
            </a:pPr>
            <a:endParaRPr sz="100">
              <a:solidFill>
                <a:schemeClr val="dk2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8" name="Google Shape;118;g3ad5da20bcc_1_15"/>
          <p:cNvSpPr txBox="1">
            <a:spLocks noGrp="1"/>
          </p:cNvSpPr>
          <p:nvPr>
            <p:ph type="body" idx="1"/>
          </p:nvPr>
        </p:nvSpPr>
        <p:spPr>
          <a:xfrm>
            <a:off x="410100" y="782900"/>
            <a:ext cx="38595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ko" sz="2100" b="1">
                <a:solidFill>
                  <a:srgbClr val="1155CC"/>
                </a:solidFill>
              </a:rPr>
              <a:t>PPO - 주요 코드 설명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d5da20bcc_1_20"/>
          <p:cNvSpPr txBox="1">
            <a:spLocks noGrp="1"/>
          </p:cNvSpPr>
          <p:nvPr>
            <p:ph type="title"/>
          </p:nvPr>
        </p:nvSpPr>
        <p:spPr>
          <a:xfrm>
            <a:off x="228007" y="35810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강화학습 알고리즘 및 hyperparameter 등 설명(Cont.)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24" name="Google Shape;124;g3ad5da20bcc_1_20"/>
          <p:cNvSpPr txBox="1">
            <a:spLocks noGrp="1"/>
          </p:cNvSpPr>
          <p:nvPr>
            <p:ph type="body" idx="1"/>
          </p:nvPr>
        </p:nvSpPr>
        <p:spPr>
          <a:xfrm>
            <a:off x="410100" y="782900"/>
            <a:ext cx="51852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5194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ko" sz="2100" b="1">
                <a:solidFill>
                  <a:srgbClr val="1155CC"/>
                </a:solidFill>
              </a:rPr>
              <a:t>PPO - hyperparameter 설명(최종버전 기준)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ad5da20bcc_1_20"/>
          <p:cNvSpPr txBox="1"/>
          <p:nvPr/>
        </p:nvSpPr>
        <p:spPr>
          <a:xfrm>
            <a:off x="4269600" y="1417950"/>
            <a:ext cx="4646400" cy="230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num_episodes = </a:t>
            </a:r>
            <a:r>
              <a:rPr lang="en-US" alt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7</a:t>
            </a: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000 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num_envs = 64  : 병렬 실행 환경 수 (일반적 범위 64~256)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rollout_steps = 256 : 한 번의 rollout 길이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update_epochs = 6 : rollout 데이터로 반복 학습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mini_batch_size = 1024 : mini-batch 크기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gamma = 0.99  : 장기 보상 반영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lam = 0.95  : GAE λ (bias–variance trade-off)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clip_coef = 0.2  : PPO clipped ratio ε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lr = 2.5e-4  : Adam learning rate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entropy_coef = 0.01 : 탐험 유도를 위한 entropy 보상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value_coef = 0.5 : critic loss weight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max_grad_norm = 0.5 : gradient clipping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●"/>
              <a:defRPr/>
            </a:pPr>
            <a:r>
              <a:rPr lang="ko" sz="1100" dirty="0">
                <a:solidFill>
                  <a:schemeClr val="dk2"/>
                </a:solidFill>
                <a:latin typeface="함초롬돋움"/>
                <a:ea typeface="함초롬돋움"/>
                <a:cs typeface="함초롬돋움"/>
              </a:rPr>
              <a:t>target_kl = 0.02  : KL divergence early-stop 기준</a:t>
            </a:r>
            <a:endParaRPr sz="1100" dirty="0">
              <a:solidFill>
                <a:schemeClr val="dk2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8DCA53-6725-3D7C-EE0E-7DD1FDC91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01" y="1297775"/>
            <a:ext cx="4271314" cy="27338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5da20bcc_4_163"/>
          <p:cNvSpPr txBox="1">
            <a:spLocks noGrp="1"/>
          </p:cNvSpPr>
          <p:nvPr>
            <p:ph type="title"/>
          </p:nvPr>
        </p:nvSpPr>
        <p:spPr>
          <a:xfrm>
            <a:off x="75607" y="10092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실험 셋업 (실험 환경 / Evaluation metrics)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32" name="Google Shape;132;g3ad5da20bcc_4_163"/>
          <p:cNvSpPr txBox="1">
            <a:spLocks noGrp="1"/>
          </p:cNvSpPr>
          <p:nvPr>
            <p:ph type="body" idx="1"/>
          </p:nvPr>
        </p:nvSpPr>
        <p:spPr>
          <a:xfrm>
            <a:off x="0" y="597400"/>
            <a:ext cx="9200700" cy="4445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lnSpcReduction="10000"/>
          </a:bodyPr>
          <a:lstStyle/>
          <a:p>
            <a:pPr marL="457200" lvl="0" indent="-3365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학습 환경 </a:t>
            </a:r>
          </a:p>
          <a:p>
            <a:pPr marL="914400" lvl="1" indent="-3175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병렬 학습 환경 (Vectorized Environment)</a:t>
            </a:r>
          </a:p>
          <a:p>
            <a:pPr marL="1371600" lvl="2" indent="-3048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SyncVectorEnv를 사용하여 64개의 환경을 동시에 실행</a:t>
            </a:r>
          </a:p>
          <a:p>
            <a:pPr marL="914400" lvl="1" indent="-3175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하드웨어 및 라이브러리</a:t>
            </a:r>
          </a:p>
          <a:p>
            <a:pPr marL="1371600" lvl="2" indent="-2984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Infrastructure</a:t>
            </a:r>
          </a:p>
          <a:p>
            <a:pPr marL="1828800" lvl="3" indent="-2857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900" b="1" dirty="0">
                <a:latin typeface="함초롬돋움"/>
                <a:ea typeface="함초롬돋움"/>
                <a:cs typeface="함초롬돋움"/>
                <a:sym typeface="Arial"/>
              </a:rPr>
              <a:t>Device:</a:t>
            </a:r>
            <a:r>
              <a:rPr lang="ko" sz="900" dirty="0">
                <a:latin typeface="함초롬돋움"/>
                <a:ea typeface="함초롬돋움"/>
                <a:cs typeface="함초롬돋움"/>
                <a:sym typeface="Arial"/>
              </a:rPr>
              <a:t> </a:t>
            </a:r>
            <a:r>
              <a:rPr lang="ko" sz="900" b="1" dirty="0">
                <a:latin typeface="함초롬돋움"/>
                <a:ea typeface="함초롬돋움"/>
                <a:cs typeface="함초롬돋움"/>
                <a:sym typeface="Arial"/>
              </a:rPr>
              <a:t>NVIDIA H100 80GB HBM3</a:t>
            </a:r>
          </a:p>
          <a:p>
            <a:pPr marL="1828800" lvl="3" indent="-2857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900" b="1" dirty="0">
                <a:latin typeface="함초롬돋움"/>
                <a:ea typeface="함초롬돋움"/>
                <a:cs typeface="함초롬돋움"/>
                <a:sym typeface="Arial"/>
              </a:rPr>
              <a:t>Environment:</a:t>
            </a:r>
            <a:r>
              <a:rPr lang="ko" sz="900" dirty="0">
                <a:latin typeface="함초롬돋움"/>
                <a:ea typeface="함초롬돋움"/>
                <a:cs typeface="함초롬돋움"/>
                <a:sym typeface="Arial"/>
              </a:rPr>
              <a:t> CUDA 12.2 / Driver 535.183</a:t>
            </a:r>
          </a:p>
          <a:p>
            <a:pPr marL="1828800" lvl="3" indent="-2857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900" b="1" dirty="0">
                <a:latin typeface="함초롬돋움"/>
                <a:ea typeface="함초롬돋움"/>
                <a:cs typeface="함초롬돋움"/>
                <a:sym typeface="Arial"/>
              </a:rPr>
              <a:t>Performance:</a:t>
            </a:r>
            <a:r>
              <a:rPr lang="ko" sz="900" dirty="0">
                <a:latin typeface="함초롬돋움"/>
                <a:ea typeface="함초롬돋움"/>
                <a:cs typeface="함초롬돋움"/>
                <a:sym typeface="Arial"/>
              </a:rPr>
              <a:t> Ultra-fast training with minimal latency (Utilization: ~15% for 64 envs)</a:t>
            </a:r>
          </a:p>
          <a:p>
            <a:pPr marL="1371600" lvl="2" indent="-3238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Framework</a:t>
            </a:r>
          </a:p>
          <a:p>
            <a:pPr marL="1828800" lvl="3" indent="-2857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900" dirty="0">
                <a:latin typeface="함초롬돋움"/>
                <a:ea typeface="함초롬돋움"/>
                <a:cs typeface="함초롬돋움"/>
                <a:sym typeface="Arial"/>
              </a:rPr>
              <a:t>PyTorch (Dueling DQN &amp; PPO)</a:t>
            </a:r>
          </a:p>
          <a:p>
            <a:pPr marL="1371600" lvl="2" indent="-2984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Environment</a:t>
            </a:r>
          </a:p>
          <a:p>
            <a:pPr marL="1828800" lvl="3" indent="-2857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900" dirty="0">
                <a:latin typeface="함초롬돋움"/>
                <a:ea typeface="함초롬돋움"/>
                <a:cs typeface="함초롬돋움"/>
                <a:sym typeface="Arial"/>
              </a:rPr>
              <a:t>Gymnasium + SyncVectorEnv (Parallel Training)</a:t>
            </a:r>
          </a:p>
          <a:p>
            <a:pPr marL="457200" lvl="0" indent="-3365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평가 지표</a:t>
            </a:r>
            <a:r>
              <a:rPr lang="ko" sz="1700" b="1" dirty="0">
                <a:latin typeface="함초롬돋움"/>
                <a:ea typeface="함초롬돋움"/>
                <a:cs typeface="함초롬돋움"/>
                <a:sym typeface="Arial"/>
              </a:rPr>
              <a:t> </a:t>
            </a:r>
          </a:p>
          <a:p>
            <a:pPr marL="914400" lvl="1" indent="-3175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주요지표 : </a:t>
            </a:r>
            <a:r>
              <a:rPr lang="ko" sz="1400" dirty="0">
                <a:latin typeface="함초롬돋움"/>
                <a:ea typeface="함초롬돋움"/>
                <a:cs typeface="함초롬돋움"/>
                <a:sym typeface="Arial"/>
              </a:rPr>
              <a:t>Average Reward</a:t>
            </a:r>
          </a:p>
          <a:p>
            <a:pPr marL="1371600" lvl="2" indent="-2984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최근 100개 에피소드의 평균 보상을 기준으로 성능의 수렴 여부를 판단</a:t>
            </a:r>
          </a:p>
          <a:p>
            <a:pPr marL="914400" lvl="1" indent="-3175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신뢰도 지표 : </a:t>
            </a:r>
            <a:r>
              <a:rPr lang="ko" sz="1400" dirty="0">
                <a:latin typeface="함초롬돋움"/>
                <a:ea typeface="함초롬돋움"/>
                <a:cs typeface="함초롬돋움"/>
                <a:sym typeface="Arial"/>
              </a:rPr>
              <a:t>Reward의 Seed 평균 및 표준편차</a:t>
            </a:r>
          </a:p>
          <a:p>
            <a:pPr marL="1371600" lvl="2" indent="-2984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(mean ± std)</a:t>
            </a:r>
          </a:p>
          <a:p>
            <a:pPr marL="914400" lvl="1" indent="-3175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정성분석 : </a:t>
            </a:r>
            <a:r>
              <a:rPr lang="ko" sz="1400" dirty="0">
                <a:latin typeface="함초롬돋움"/>
                <a:ea typeface="함초롬돋움"/>
                <a:cs typeface="함초롬돋움"/>
                <a:sym typeface="Arial"/>
              </a:rPr>
              <a:t>사망원인통계</a:t>
            </a:r>
          </a:p>
          <a:p>
            <a:pPr marL="1371600" lvl="2" indent="-2984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사망 원인 및 패턴을 코드로 분류하여 집계</a:t>
            </a: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ct val="25000"/>
              <a:buNone/>
              <a:defRPr/>
            </a:pPr>
            <a:endParaRPr sz="1200" dirty="0">
              <a:latin typeface="함초롬돋움"/>
              <a:ea typeface="함초롬돋움"/>
              <a:cs typeface="함초롬돋움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5da20bcc_1_129"/>
          <p:cNvSpPr txBox="1">
            <a:spLocks noGrp="1"/>
          </p:cNvSpPr>
          <p:nvPr>
            <p:ph type="title"/>
          </p:nvPr>
        </p:nvSpPr>
        <p:spPr>
          <a:xfrm>
            <a:off x="128432" y="158753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200">
                <a:solidFill>
                  <a:srgbClr val="1C4587"/>
                </a:solidFill>
                <a:latin typeface="한컴 윤고딕 760"/>
                <a:ea typeface="한컴 윤고딕 760"/>
              </a:rPr>
              <a:t>시행착오</a:t>
            </a:r>
            <a:endParaRPr sz="22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38" name="Google Shape;138;g3ad5da20bcc_1_129"/>
          <p:cNvSpPr txBox="1"/>
          <p:nvPr/>
        </p:nvSpPr>
        <p:spPr>
          <a:xfrm>
            <a:off x="161400" y="680400"/>
            <a:ext cx="8330100" cy="4463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ko" sz="15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DQN 첫 번째 시행착오 :  State Encoding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초기 시도:</a:t>
            </a: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장애물 타입 A, B, C를 </a:t>
            </a:r>
            <a:r>
              <a:rPr lang="ko" sz="1300" dirty="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0,1,2</a:t>
            </a: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로 ordinal encoding하여 state에 포함</a:t>
            </a:r>
            <a:br>
              <a:rPr lang="ko" sz="1300" dirty="0">
                <a:solidFill>
                  <a:schemeClr val="dk1"/>
                </a:solidFill>
                <a:ea typeface="함초롬돋움"/>
                <a:cs typeface="함초롬돋움"/>
              </a:rPr>
            </a:br>
            <a:endParaRPr lang="ko" sz="1300" dirty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관찰된 문제:</a:t>
            </a: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학습된 DQN 모델을 200번 episode들에 대해 평가했을 때, </a:t>
            </a:r>
            <a:br>
              <a:rPr lang="en-US" alt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</a:b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A에 비해 B 장애물에서 사망 비율이 비정상적으로 높게 나타남</a:t>
            </a:r>
            <a:br>
              <a:rPr lang="ko" sz="1300" dirty="0">
                <a:solidFill>
                  <a:schemeClr val="dk1"/>
                </a:solidFill>
                <a:ea typeface="함초롬돋움"/>
                <a:cs typeface="함초롬돋움"/>
              </a:rPr>
            </a:br>
            <a:endParaRPr lang="ko" sz="1300" dirty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원인 가설:</a:t>
            </a: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5000"/>
              <a:buChar char="○"/>
              <a:defRPr/>
            </a:pPr>
            <a:r>
              <a:rPr lang="ko" sz="1300" dirty="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0/1/2</a:t>
            </a: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처럼 순서를 가진 단일 스칼라 값으로 타입을 표현하면서,</a:t>
            </a:r>
            <a:br>
              <a:rPr lang="ko" sz="1300" dirty="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네트워크가 초기에 B와 C를 비슷한 부류로 묶어버리는 편향이 생겼을 가능성</a:t>
            </a:r>
            <a:br>
              <a:rPr lang="ko" sz="1300" dirty="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→ 그 결과, 장애물 타입에 따른 행동(점프/슬라이드)이 명확히 분리되지 못함</a:t>
            </a:r>
            <a:br>
              <a:rPr lang="ko" sz="1300" dirty="0">
                <a:solidFill>
                  <a:schemeClr val="dk1"/>
                </a:solidFill>
                <a:ea typeface="함초롬돋움"/>
                <a:cs typeface="함초롬돋움"/>
              </a:rPr>
            </a:br>
            <a:endParaRPr lang="ko" sz="1300" dirty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수정:</a:t>
            </a: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장애물 타입을 one-hot encoding으로 표현하도록 state 설계를 변경</a:t>
            </a: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  <a:defRPr/>
            </a:pPr>
            <a:r>
              <a:rPr lang="ko" sz="13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  ⇒ 최종적으로, B에서만 죽던 문제 해결! 하지만 최대 length가 1800대에 머무름 </a:t>
            </a: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  <a:defRPr/>
            </a:pPr>
            <a:endParaRPr sz="700" dirty="0">
              <a:solidFill>
                <a:schemeClr val="dk2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9" name="Google Shape;139;g3ad5da20bcc_1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200" y="456225"/>
            <a:ext cx="5108351" cy="10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5da20bcc_1_119"/>
          <p:cNvSpPr txBox="1"/>
          <p:nvPr/>
        </p:nvSpPr>
        <p:spPr>
          <a:xfrm>
            <a:off x="74650" y="150300"/>
            <a:ext cx="4691400" cy="450325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ko" sz="15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DQN 두 번째 시행착오 : max length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문제 상황 :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easy·normal 구간은 안정적이나, hard 난이도 진입 즉시 </a:t>
            </a:r>
            <a:br>
              <a:rPr lang="en-US" alt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</a:b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반복적으로 사망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hard 구간을 충분히 경험하지 못해 학습이 </a:t>
            </a:r>
            <a:br>
              <a:rPr lang="en-US" alt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</a:b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hard 진입 직전에서 정체·수렴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원인 가설 :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스폰 구조상 hard 패턴이 후반부에 집중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초반 대부분이 easy/normal trajectory로 채워져 </a:t>
            </a:r>
            <a:br>
              <a:rPr lang="ko" sz="1100" dirty="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Replay Buffer의 hard 경험이 극히 희소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결과적으로 Q-network가 hard 패턴을 </a:t>
            </a:r>
            <a:br>
              <a:rPr lang="en-US" alt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</a:b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학습할 데이터가</a:t>
            </a:r>
            <a:r>
              <a:rPr lang="en-US" alt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부족한 상태로 유지됨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수정 및 조치:</a:t>
            </a:r>
          </a:p>
          <a:p>
            <a:pPr marL="914400" lvl="1" indent="-2984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장애물 스폰 확률·분포를 재조정하여 </a:t>
            </a:r>
            <a:br>
              <a:rPr lang="ko" sz="1100" dirty="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hard 패턴의 </a:t>
            </a:r>
            <a:r>
              <a:rPr lang="ko" sz="1100" b="1" dirty="0">
                <a:solidFill>
                  <a:schemeClr val="accent1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조기·점진적 등장</a:t>
            </a: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유도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결과 :</a:t>
            </a:r>
          </a:p>
          <a:p>
            <a:pPr marL="914400" lvl="1" indent="-298450" algn="l" rtl="0">
              <a:lnSpc>
                <a:spcPct val="8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에피소드 max length가 기존 1800 부근 정체에서 벗어나 상위 구간으로 확장</a:t>
            </a:r>
            <a:endParaRPr sz="1100" dirty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5" name="Google Shape;145;g3ad5da20bcc_1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000" y="1405703"/>
            <a:ext cx="4073150" cy="2442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5da20bcc_1_25"/>
          <p:cNvSpPr txBox="1">
            <a:spLocks noGrp="1"/>
          </p:cNvSpPr>
          <p:nvPr>
            <p:ph type="title"/>
          </p:nvPr>
        </p:nvSpPr>
        <p:spPr>
          <a:xfrm>
            <a:off x="102582" y="5447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200">
                <a:solidFill>
                  <a:srgbClr val="1C4587"/>
                </a:solidFill>
                <a:latin typeface="한컴 윤고딕 760"/>
                <a:ea typeface="한컴 윤고딕 760"/>
              </a:rPr>
              <a:t>PPO 시행착오 : </a:t>
            </a:r>
            <a:r>
              <a:rPr lang="ko" sz="1300" b="0">
                <a:solidFill>
                  <a:schemeClr val="dk1"/>
                </a:solidFill>
                <a:latin typeface="한컴 윤고딕 760"/>
                <a:ea typeface="한컴 윤고딕 760"/>
              </a:rPr>
              <a:t>DQN 바탕으로 환경 안정화 후 PPO 도입, 그러나 DQN 대비 우위 없음</a:t>
            </a:r>
            <a:endParaRPr sz="13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51" name="Google Shape;151;g3ad5da20bcc_1_25"/>
          <p:cNvSpPr txBox="1">
            <a:spLocks noGrp="1"/>
          </p:cNvSpPr>
          <p:nvPr>
            <p:ph type="body" idx="1"/>
          </p:nvPr>
        </p:nvSpPr>
        <p:spPr>
          <a:xfrm>
            <a:off x="148800" y="1015225"/>
            <a:ext cx="8846400" cy="4065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None/>
              <a:defRPr/>
            </a:pPr>
            <a:r>
              <a:rPr lang="ko" sz="1200" b="1">
                <a:latin typeface="함초롬돋움"/>
                <a:ea typeface="함초롬돋움"/>
                <a:cs typeface="함초롬돋움"/>
                <a:sym typeface="Arial"/>
              </a:rPr>
              <a:t>(1) 학습 안정성: Dropout 제거 및 LayerNorm 도입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 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Before : 일반적인 딥러닝 관습에 따라 Overfitting을 막고자 </a:t>
            </a:r>
            <a:r>
              <a:rPr lang="ko" sz="1000">
                <a:solidFill>
                  <a:srgbClr val="188038"/>
                </a:solidFill>
                <a:latin typeface="함초롬돋움"/>
                <a:ea typeface="함초롬돋움"/>
                <a:cs typeface="함초롬돋움"/>
                <a:sym typeface="Roboto Mono"/>
              </a:rPr>
              <a:t>Dropout</a:t>
            </a: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을 적용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Analysis : On-policy PPO에서 Dropout 노이즈가 정책 일관성을 깨고, importance sampling 노이즈를 키워 학습이 불안정해짐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After : Dropout을 제거하고 LayerNorm을 도입해 정책·가치 추정의 분산을 줄이고 수렴 안정성을 확보</a:t>
            </a:r>
          </a:p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1200" b="1">
                <a:latin typeface="함초롬돋움"/>
                <a:ea typeface="함초롬돋움"/>
                <a:cs typeface="함초롬돋움"/>
                <a:sym typeface="Arial"/>
              </a:rPr>
              <a:t>(2) 업데이트 최적화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Before (초기 모델): </a:t>
            </a:r>
            <a:r>
              <a:rPr lang="ko" sz="11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rollout_steps = 2048</a:t>
            </a: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로 지나치게 길게 설정되어,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                             업데이트 시점에는 이미 오래된(stale) trajectory가 버퍼에 많이 쌓이는 문제 발생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After (최적화 모델): </a:t>
            </a:r>
            <a:r>
              <a:rPr lang="ko" sz="10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rollout_steps</a:t>
            </a: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를 256으로 대폭 줄여, 에이전트가 행동한 결과가 즉각적으로 정책 업데이트에 반영되도록 주기를 단축. 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                                수집(Rollout)과 학습(Update)의 루프를 타이트하게 동기화하여, 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                                On-policy 알고리즘의 핵심인 "현재 정책이 만든 데이터로 현재 정책을 학습한다"는 원칙을 준수했습니다.</a:t>
            </a:r>
          </a:p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2400"/>
              </a:spcAft>
              <a:buSzPct val="25000"/>
              <a:buNone/>
              <a:defRPr/>
            </a:pPr>
            <a:r>
              <a:rPr lang="ko" sz="1200" b="1">
                <a:latin typeface="함초롬돋움"/>
                <a:ea typeface="함초롬돋움"/>
                <a:cs typeface="함초롬돋움"/>
                <a:sym typeface="Arial"/>
              </a:rPr>
              <a:t>(3) 안전 장치: KL Divergence Early Stopping &amp; LR Scheduling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Before (초기 모델): 고정된 학습률과 단순 클리핑(Clipping)만 의존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- After (최적화 모델):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  </a:t>
            </a:r>
            <a:r>
              <a:rPr lang="ko" sz="10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Target KL</a:t>
            </a: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기반의 Early Stopping을 도입하여, 정책이 한 번의 업데이트에서 너무 급격하게 변해버리는 'Policy Collapse(정책 붕괴)'를 방지했음.</a:t>
            </a:r>
            <a:br>
              <a:rPr lang="ko" sz="1000">
                <a:ea typeface="함초롬돋움"/>
                <a:cs typeface="함초롬돋움"/>
                <a:sym typeface="Arial"/>
              </a:rPr>
            </a:b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  </a:t>
            </a:r>
            <a:r>
              <a:rPr lang="ko" sz="10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CosineAnnealing</a:t>
            </a:r>
            <a:r>
              <a:rPr lang="ko" sz="1000">
                <a:latin typeface="함초롬돋움"/>
                <a:ea typeface="함초롬돋움"/>
                <a:cs typeface="함초롬돋움"/>
                <a:sym typeface="Arial"/>
              </a:rPr>
              <a:t> 스케줄러를 적용해 학습 후반부로 갈수록 미세한 튜닝이 가능하도록 했음.</a:t>
            </a:r>
            <a:endParaRPr sz="825">
              <a:solidFill>
                <a:srgbClr val="1155CC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52" name="Google Shape;152;g3ad5da20bcc_1_25"/>
          <p:cNvSpPr txBox="1"/>
          <p:nvPr/>
        </p:nvSpPr>
        <p:spPr>
          <a:xfrm>
            <a:off x="148800" y="479263"/>
            <a:ext cx="1408200" cy="481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0070C0"/>
                </a:solidFill>
                <a:latin typeface="함초롬돋움"/>
                <a:ea typeface="함초롬돋움"/>
                <a:cs typeface="함초롬돋움"/>
                <a:sym typeface="Calibri"/>
              </a:rPr>
              <a:t>시행 조치</a:t>
            </a:r>
            <a:endParaRPr sz="2000" b="1">
              <a:solidFill>
                <a:srgbClr val="0070C0"/>
              </a:solidFill>
              <a:latin typeface="함초롬돋움"/>
              <a:ea typeface="함초롬돋움"/>
              <a:cs typeface="함초롬돋움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5da20bcc_4_97"/>
          <p:cNvSpPr txBox="1">
            <a:spLocks noGrp="1"/>
          </p:cNvSpPr>
          <p:nvPr>
            <p:ph type="title"/>
          </p:nvPr>
        </p:nvSpPr>
        <p:spPr>
          <a:xfrm>
            <a:off x="7" y="89767"/>
            <a:ext cx="8688000" cy="424800"/>
          </a:xfrm>
          <a:prstGeom prst="rect">
            <a:avLst/>
          </a:prstGeom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200">
                <a:solidFill>
                  <a:srgbClr val="0070C0"/>
                </a:solidFill>
                <a:latin typeface="한컴 윤고딕 760"/>
                <a:ea typeface="한컴 윤고딕 760"/>
              </a:rPr>
              <a:t>PPO 개선 후 성능 폭발!</a:t>
            </a:r>
            <a:endParaRPr sz="2200">
              <a:solidFill>
                <a:srgbClr val="0070C0"/>
              </a:solidFill>
              <a:latin typeface="한컴 윤고딕 760"/>
              <a:ea typeface="한컴 윤고딕 760"/>
            </a:endParaRPr>
          </a:p>
        </p:txBody>
      </p:sp>
      <p:sp>
        <p:nvSpPr>
          <p:cNvPr id="158" name="Google Shape;158;g3ad5da20bcc_4_97"/>
          <p:cNvSpPr txBox="1">
            <a:spLocks noGrp="1"/>
          </p:cNvSpPr>
          <p:nvPr>
            <p:ph type="body" idx="2"/>
          </p:nvPr>
        </p:nvSpPr>
        <p:spPr>
          <a:xfrm>
            <a:off x="1338961" y="2729768"/>
            <a:ext cx="1822200" cy="315300"/>
          </a:xfrm>
          <a:prstGeom prst="rect">
            <a:avLst/>
          </a:prstGeom>
        </p:spPr>
        <p:txBody>
          <a:bodyPr spcFirstLastPara="1" wrap="square" lIns="87100" tIns="87100" rIns="87100" bIns="87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28" b="1"/>
              <a:t>Before</a:t>
            </a:r>
            <a:endParaRPr sz="1428" b="1"/>
          </a:p>
        </p:txBody>
      </p:sp>
      <p:pic>
        <p:nvPicPr>
          <p:cNvPr id="159" name="Google Shape;159;g3ad5da20bcc_4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50" y="546750"/>
            <a:ext cx="3631908" cy="218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ad5da20bcc_4_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8047" y="546750"/>
            <a:ext cx="3631908" cy="218300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ad5da20bcc_4_97"/>
          <p:cNvSpPr txBox="1">
            <a:spLocks noGrp="1"/>
          </p:cNvSpPr>
          <p:nvPr>
            <p:ph type="body" idx="2"/>
          </p:nvPr>
        </p:nvSpPr>
        <p:spPr>
          <a:xfrm>
            <a:off x="5982947" y="2729768"/>
            <a:ext cx="1822200" cy="315300"/>
          </a:xfrm>
          <a:prstGeom prst="rect">
            <a:avLst/>
          </a:prstGeom>
        </p:spPr>
        <p:txBody>
          <a:bodyPr spcFirstLastPara="1" wrap="square" lIns="87100" tIns="87100" rIns="87100" bIns="87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28" b="1"/>
              <a:t>After</a:t>
            </a:r>
            <a:endParaRPr sz="1428" b="1"/>
          </a:p>
        </p:txBody>
      </p:sp>
      <p:sp>
        <p:nvSpPr>
          <p:cNvPr id="162" name="Google Shape;162;g3ad5da20bcc_4_97"/>
          <p:cNvSpPr/>
          <p:nvPr/>
        </p:nvSpPr>
        <p:spPr>
          <a:xfrm>
            <a:off x="4252140" y="1374824"/>
            <a:ext cx="676500" cy="596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78D8"/>
          </a:solidFill>
          <a:ln w="90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100" tIns="87100" rIns="87100" bIns="87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/>
          </a:p>
        </p:txBody>
      </p:sp>
      <p:sp>
        <p:nvSpPr>
          <p:cNvPr id="163" name="Google Shape;163;g3ad5da20bcc_4_97"/>
          <p:cNvSpPr txBox="1">
            <a:spLocks noGrp="1"/>
          </p:cNvSpPr>
          <p:nvPr>
            <p:ph type="body" idx="1"/>
          </p:nvPr>
        </p:nvSpPr>
        <p:spPr>
          <a:xfrm>
            <a:off x="154600" y="2976075"/>
            <a:ext cx="8846400" cy="4065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None/>
              <a:defRPr/>
            </a:pPr>
            <a:r>
              <a:rPr lang="ko" sz="1200" b="1" dirty="0">
                <a:latin typeface="함초롬돋움"/>
                <a:ea typeface="함초롬돋움"/>
                <a:cs typeface="함초롬돋움"/>
                <a:sym typeface="Arial"/>
              </a:rPr>
              <a:t>(1) 결과 관찰</a:t>
            </a:r>
            <a:r>
              <a:rPr lang="ko" sz="1000" dirty="0">
                <a:latin typeface="함초롬돋움"/>
                <a:ea typeface="함초롬돋움"/>
                <a:cs typeface="함초롬돋움"/>
                <a:sym typeface="Arial"/>
              </a:rPr>
              <a:t>  </a:t>
            </a:r>
          </a:p>
          <a:p>
            <a:pPr marL="457200" lvl="0" indent="-29210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수렴 속도 향상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: 초반 구간부터 reward가 점진적으로 누적되며, 일정 시점 이후 기울기가 뚜렷하게 증가</a:t>
            </a: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고점 갱신 폭증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: 최대 보상이 기존 수백 단위에서 수만 단위까지 도달하며, 상위 에피소드 reward 스케일 자체가 한 단계 상승</a:t>
            </a: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정책 품질 개선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: 단순 진동하던 우연에 기대는 정책에서 난이도 상승 구간까지 안정적으로 도달하는 “고보상 정책”으로 전환</a:t>
            </a:r>
          </a:p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2400"/>
              </a:spcAft>
              <a:buSzPct val="25000"/>
              <a:buNone/>
              <a:defRPr/>
            </a:pPr>
            <a:r>
              <a:rPr lang="ko" sz="1200" b="1" dirty="0">
                <a:latin typeface="함초롬돋움"/>
                <a:ea typeface="함초롬돋움"/>
                <a:cs typeface="함초롬돋움"/>
                <a:sym typeface="Arial"/>
              </a:rPr>
              <a:t>(2) 다음 의문 : </a:t>
            </a: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value-based(DQN)에도 이정도 성과를 옮겨올 수 없을까?</a:t>
            </a:r>
            <a:br>
              <a:rPr lang="ko" sz="1000" dirty="0">
                <a:ea typeface="함초롬돋움"/>
                <a:cs typeface="함초롬돋움"/>
                <a:sym typeface="Arial"/>
              </a:rPr>
            </a:br>
            <a:endParaRPr sz="825" dirty="0">
              <a:solidFill>
                <a:srgbClr val="1155CC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64" name="Google Shape;164;g3ad5da20bcc_4_97"/>
          <p:cNvSpPr/>
          <p:nvPr/>
        </p:nvSpPr>
        <p:spPr>
          <a:xfrm>
            <a:off x="-6847" y="4505732"/>
            <a:ext cx="5084894" cy="315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d5da20bcc_4_141"/>
          <p:cNvSpPr txBox="1"/>
          <p:nvPr/>
        </p:nvSpPr>
        <p:spPr>
          <a:xfrm>
            <a:off x="-77750" y="0"/>
            <a:ext cx="8357400" cy="499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ko" sz="15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DQN 마지막 개선 : 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문제 의식 :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PPO는 결과가 잘 나오지만, DQN은 baseline 수준 </a:t>
            </a:r>
            <a:br>
              <a:rPr lang="ko" sz="11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→ 비교가 안 됨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hard 구간을 충분히 경험하지 못해 학습이 hard 진입 직전에서 정체·수렴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조치 :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Reward Shaping 보정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C 회피 보상: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1 → 2로 상향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A, B 회피 보상(2)에 맞추어,</a:t>
            </a:r>
            <a:br>
              <a:rPr lang="ko" sz="1100">
                <a:solidFill>
                  <a:schemeClr val="dk1"/>
                </a:solidFill>
                <a:ea typeface="함초롬돋움"/>
                <a:cs typeface="함초롬돋움"/>
              </a:rPr>
            </a:b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“어떤 타입의 장애물을 회피하든 충분한 양의 보상”을 주도록 정렬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C 패턴이 많은 구간에서 살아남는 행동을 더 강하게 강화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하이퍼 파라미터 튜닝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num_episodes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4,000 →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7,000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9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(학습 기회 증가)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batch_size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4,096 →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8,192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9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(업데이트당 샘플 수 확대 → Q 추정 분산 감소)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gamma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0.99 →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0.985</a:t>
            </a:r>
            <a:r>
              <a:rPr lang="ko" sz="9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(할인율 소폭 감소 → 현재 구간에서의 생존/회피를 더 강조)</a:t>
            </a: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■"/>
              <a:defRPr/>
            </a:pPr>
            <a:r>
              <a:rPr lang="ko" sz="1100">
                <a:solidFill>
                  <a:srgbClr val="0070C0"/>
                </a:solidFill>
                <a:highlight>
                  <a:srgbClr val="F3F3F3"/>
                </a:highlight>
                <a:latin typeface="함초롬돋움"/>
                <a:ea typeface="함초롬돋움"/>
                <a:cs typeface="함초롬돋움"/>
                <a:sym typeface="Roboto Mono"/>
              </a:rPr>
              <a:t>start_learning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: 20,000 →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50,000</a:t>
            </a: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" sz="9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(충분한 경험이 쌓인 뒤부터 학습 시작)</a:t>
            </a:r>
          </a:p>
          <a:p>
            <a:pPr marL="457200" lvl="0" indent="-3111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ko" sz="13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결과 :</a:t>
            </a:r>
          </a:p>
          <a:p>
            <a:pPr marL="914400" lvl="1" indent="-2984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last100 reward: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139 → 852 (약 6.1배)</a:t>
            </a:r>
          </a:p>
          <a:p>
            <a:pPr marL="914400" lvl="1" indent="-29845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last100 length: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1,099 → 3,577 (약 3.3배)</a:t>
            </a:r>
          </a:p>
          <a:p>
            <a:pPr marL="914400" lvl="1" indent="-298450" algn="l" rtl="0">
              <a:lnSpc>
                <a:spcPct val="8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25000"/>
              <a:buChar char="○"/>
              <a:defRPr/>
            </a:pPr>
            <a:r>
              <a:rPr lang="ko" sz="110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max length: </a:t>
            </a:r>
            <a:r>
              <a:rPr lang="ko" sz="1100" b="1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1,889 → 12,749 (약 6.7배)</a:t>
            </a:r>
            <a:endParaRPr sz="11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70" name="Google Shape;170;g3ad5da20bcc_4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088" y="2756300"/>
            <a:ext cx="3305820" cy="19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ad5da20bcc_4_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3100" y="304800"/>
            <a:ext cx="3305811" cy="19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ad5da20bcc_4_141"/>
          <p:cNvSpPr/>
          <p:nvPr/>
        </p:nvSpPr>
        <p:spPr>
          <a:xfrm>
            <a:off x="7088450" y="2361900"/>
            <a:ext cx="635100" cy="324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5da20bcc_1_30"/>
          <p:cNvSpPr txBox="1">
            <a:spLocks noGrp="1"/>
          </p:cNvSpPr>
          <p:nvPr>
            <p:ph type="title"/>
          </p:nvPr>
        </p:nvSpPr>
        <p:spPr>
          <a:xfrm>
            <a:off x="75607" y="10092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실험 흐름 요약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graphicFrame>
        <p:nvGraphicFramePr>
          <p:cNvPr id="178" name="Google Shape;178;g3ad5da20bcc_1_30"/>
          <p:cNvGraphicFramePr/>
          <p:nvPr/>
        </p:nvGraphicFramePr>
        <p:xfrm>
          <a:off x="169121" y="478930"/>
          <a:ext cx="8805756" cy="4654662"/>
        </p:xfrm>
        <a:graphic>
          <a:graphicData uri="http://schemas.openxmlformats.org/drawingml/2006/table">
            <a:tbl>
              <a:tblPr>
                <a:noFill/>
                <a:tableStyleId>{828FEFC9-5CC1-42D0-AE75-FF82376D1664}</a:tableStyleId>
              </a:tblPr>
              <a:tblGrid>
                <a:gridCol w="511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8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431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실험 ID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FFFF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알고리즘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FFFF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주요 설정/변경점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FFFF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목적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FFFF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결과 요약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FFFF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E1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DQN_1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기본 Deueling DQN, </a:t>
                      </a:r>
                      <a:br>
                        <a:rPr lang="ko">
                          <a:ea typeface="함초롬돋움"/>
                          <a:cs typeface="함초롬돋움"/>
                        </a:rPr>
                      </a:b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C-reward=1, γ=0.99, batch=4096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baseline 성능 확인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검증 단계에서 장애물 B에서만 죽는 문제 발생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5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E2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DQN_2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장애물에 대한 state를 </a:t>
                      </a:r>
                      <a:br>
                        <a:rPr lang="ko">
                          <a:ea typeface="함초롬돋움"/>
                          <a:cs typeface="함초롬돋움"/>
                        </a:rPr>
                      </a:b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Ordinal Encoding에서 </a:t>
                      </a:r>
                      <a:br>
                        <a:rPr lang="ko">
                          <a:ea typeface="함초롬돋움"/>
                          <a:cs typeface="함초롬돋움"/>
                        </a:rPr>
                      </a:b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One-hot Encoding으로 변환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B에 대한 </a:t>
                      </a:r>
                      <a:br>
                        <a:rPr lang="ko">
                          <a:ea typeface="함초롬돋움"/>
                          <a:cs typeface="함초롬돋움"/>
                        </a:rPr>
                      </a:b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대응 능력 부족 개선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사망 사유 다양화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5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E3</a:t>
                      </a:r>
                      <a:endParaRPr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DQN_3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Hard 패턴 스폰 시점 조기화 </a:t>
                      </a:r>
                      <a:br>
                        <a:rPr lang="ko">
                          <a:ea typeface="함초롬돋움"/>
                          <a:cs typeface="함초롬돋움"/>
                        </a:rPr>
                      </a:b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및 확률 증가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Hard 패턴 학습 환경 개선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학습 과정 중 생존 시간 </a:t>
                      </a:r>
                      <a:r>
                        <a:rPr lang="ko-KR" altLang="en-US">
                          <a:latin typeface="함초롬돋움"/>
                          <a:ea typeface="함초롬돋움"/>
                          <a:cs typeface="함초롬돋움"/>
                        </a:rPr>
                        <a:t>  </a:t>
                      </a: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연장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(안정적 학습 환경 확보)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E4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PPO_old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rollout=2048, dropout, 고정 lr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on-policy 전환 1차 시도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r>
                        <a:rPr lang="ko" sz="15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  <a:sym typeface="Calibri"/>
                        </a:rPr>
                        <a:t>DQN 대비 우위 없음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5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E5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PPO_new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rollout=256, KL ES, cosine lr, LayerNorm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PPO 안정화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성능 극대화 및 DQN 상회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5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E6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DQN_new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C-reward=2, γ=0.985, batch=8192, 7000 eps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DQN을 PPO 수준으로 끌어올리기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latin typeface="함초롬돋움"/>
                          <a:ea typeface="함초롬돋움"/>
                          <a:cs typeface="함초롬돋움"/>
                        </a:rPr>
                        <a:t>기존 DQN 모델 대비 reward 6.1배 증가</a:t>
                      </a:r>
                      <a:endParaRPr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d5da20bcc_4_155"/>
          <p:cNvSpPr txBox="1">
            <a:spLocks noGrp="1"/>
          </p:cNvSpPr>
          <p:nvPr>
            <p:ph type="title"/>
          </p:nvPr>
        </p:nvSpPr>
        <p:spPr>
          <a:xfrm>
            <a:off x="75607" y="10092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최종 실험 결과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84" name="Google Shape;184;g3ad5da20bcc_4_155"/>
          <p:cNvSpPr txBox="1">
            <a:spLocks noGrp="1"/>
          </p:cNvSpPr>
          <p:nvPr>
            <p:ph type="body" idx="1"/>
          </p:nvPr>
        </p:nvSpPr>
        <p:spPr>
          <a:xfrm>
            <a:off x="4043100" y="60600"/>
            <a:ext cx="5100900" cy="50223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1. 최종 성능 요약 (정량 지표)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Reward</a:t>
            </a:r>
            <a:br>
              <a:rPr lang="ko" sz="1400" b="1" dirty="0">
                <a:ea typeface="함초롬돋움"/>
                <a:cs typeface="함초롬돋움"/>
                <a:sym typeface="Arial"/>
              </a:rPr>
            </a:b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(Last 100 episodes, 3개 seed 평균)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DQN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: ≈ 670(± 155)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PPO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: ≈ 3,557 (± 3,195)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→ 평균 기준 약 5.3배</a:t>
            </a: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 차이</a:t>
            </a:r>
            <a:br>
              <a:rPr lang="ko" sz="1100" b="1" dirty="0">
                <a:ea typeface="함초롬돋움"/>
                <a:cs typeface="함초롬돋움"/>
                <a:sym typeface="Arial"/>
              </a:rPr>
            </a:b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   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 실패 seed를 포함해도 PPO가 명확한 우위를 유지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400" b="1" dirty="0">
                <a:latin typeface="함초롬돋움"/>
                <a:ea typeface="함초롬돋움"/>
                <a:cs typeface="함초롬돋움"/>
                <a:sym typeface="Arial"/>
              </a:rPr>
              <a:t>Seed별 편차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DQN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seed 0, 1, 2 모두 500~770 사이로 수렴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→ 성능 자체는 낮지만, </a:t>
            </a: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run 간 편차는 비교적 작음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PPO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seed 0/2: 마지막 100-ep 평균 reward가 </a:t>
            </a: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4,000~6,500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            </a:t>
            </a:r>
            <a:r>
              <a:rPr lang="ko" sz="1100" dirty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  <a:sym typeface="Arial"/>
              </a:rPr>
              <a:t>ㅋ 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          수준까지 상승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seed 1: 약 </a:t>
            </a: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200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 수준에서 정체 (실패 run)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            → 평균·상한은 매우 높지만, 분산이 큰 알고리즘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DQN은 reward shaping·하이퍼 파라미터 튜닝으로 </a:t>
            </a:r>
            <a:br>
              <a:rPr lang="ko" sz="1200" dirty="0">
                <a:ea typeface="함초롬돋움"/>
                <a:cs typeface="함초롬돋움"/>
                <a:sym typeface="Arial"/>
              </a:rPr>
            </a:b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OLD DQN 대비 3~6배 성능 향상을 달성했지만, </a:t>
            </a:r>
            <a:br>
              <a:rPr lang="ko" sz="1200" dirty="0">
                <a:ea typeface="함초롬돋움"/>
                <a:cs typeface="함초롬돋움"/>
                <a:sym typeface="Arial"/>
              </a:rPr>
            </a:b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동일 환경에서 PPO는 마지막 100 에피소드 기준으로도 평균적으로 </a:t>
            </a:r>
            <a:br>
              <a:rPr lang="ko" sz="1200" dirty="0">
                <a:ea typeface="함초롬돋움"/>
                <a:cs typeface="함초롬돋움"/>
                <a:sym typeface="Arial"/>
              </a:rPr>
            </a:b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약 5배 이상 높은 성능을 유지하며 구조적인 격차를 보임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최악 run 기준 하한은 PPO의 실패 run(seed1)은 모든 DQN보다도 낮은 성능에서 수렴하여 </a:t>
            </a:r>
            <a:r>
              <a:rPr lang="ko" sz="1200" b="1" dirty="0">
                <a:solidFill>
                  <a:schemeClr val="accent1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  <a:sym typeface="Arial"/>
              </a:rPr>
              <a:t>고성능 잠재력</a:t>
            </a:r>
            <a:r>
              <a:rPr lang="ko" sz="1200" dirty="0">
                <a:latin typeface="함초롬돋움"/>
                <a:ea typeface="함초롬돋움"/>
                <a:cs typeface="함초롬돋움"/>
                <a:sym typeface="Arial"/>
              </a:rPr>
              <a:t>과 동시에 </a:t>
            </a:r>
            <a:r>
              <a:rPr lang="ko" sz="1200" b="1" dirty="0">
                <a:solidFill>
                  <a:schemeClr val="accent1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  <a:sym typeface="Arial"/>
              </a:rPr>
              <a:t>높은 분산·리스크 존재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pic>
        <p:nvPicPr>
          <p:cNvPr id="185" name="Google Shape;185;g3ad5da20bcc_4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13" y="478100"/>
            <a:ext cx="2680700" cy="21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ad5da20bcc_4_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63" y="2705875"/>
            <a:ext cx="3986577" cy="23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ad5da20bcc_4_155"/>
          <p:cNvSpPr/>
          <p:nvPr/>
        </p:nvSpPr>
        <p:spPr>
          <a:xfrm>
            <a:off x="459350" y="3228730"/>
            <a:ext cx="509700" cy="89700"/>
          </a:xfrm>
          <a:prstGeom prst="rect">
            <a:avLst/>
          </a:prstGeom>
          <a:noFill/>
          <a:ln w="10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700" tIns="99700" rIns="99700" bIns="99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26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5da20bcc_4_181"/>
          <p:cNvSpPr txBox="1">
            <a:spLocks noGrp="1"/>
          </p:cNvSpPr>
          <p:nvPr>
            <p:ph type="title"/>
          </p:nvPr>
        </p:nvSpPr>
        <p:spPr>
          <a:xfrm>
            <a:off x="75607" y="10092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최종 실험 결과(Cont.)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193" name="Google Shape;193;g3ad5da20bcc_4_181"/>
          <p:cNvSpPr txBox="1">
            <a:spLocks noGrp="1"/>
          </p:cNvSpPr>
          <p:nvPr>
            <p:ph type="body" idx="1"/>
          </p:nvPr>
        </p:nvSpPr>
        <p:spPr>
          <a:xfrm>
            <a:off x="0" y="604200"/>
            <a:ext cx="4814400" cy="39351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 b="1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2. 구조적 차이 – 난이도·패턴 관점</a:t>
            </a:r>
            <a:br>
              <a:rPr lang="ko" sz="1700" b="1">
                <a:solidFill>
                  <a:srgbClr val="1155CC"/>
                </a:solidFill>
                <a:ea typeface="함초롬돋움"/>
                <a:cs typeface="함초롬돋움"/>
              </a:rPr>
            </a:br>
            <a:endParaRPr lang="ko" sz="1700" b="1">
              <a:solidFill>
                <a:srgbClr val="1155CC"/>
              </a:solidFill>
              <a:latin typeface="함초롬돋움"/>
              <a:ea typeface="함초롬돋움"/>
              <a:cs typeface="함초롬돋움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400" b="1">
                <a:latin typeface="함초롬돋움"/>
                <a:ea typeface="함초롬돋움"/>
                <a:cs typeface="함초롬돋움"/>
                <a:sym typeface="Arial"/>
              </a:rPr>
              <a:t>난이도별 사망 비율 </a:t>
            </a:r>
            <a:r>
              <a:rPr lang="ko" sz="1200">
                <a:latin typeface="함초롬돋움"/>
                <a:ea typeface="함초롬돋움"/>
                <a:cs typeface="함초롬돋움"/>
                <a:sym typeface="Arial"/>
              </a:rPr>
              <a:t>(3 seeds 합산)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DQN: hard ≈ </a:t>
            </a:r>
            <a:r>
              <a:rPr lang="ko" sz="1100" b="1">
                <a:latin typeface="함초롬돋움"/>
                <a:ea typeface="함초롬돋움"/>
                <a:cs typeface="함초롬돋움"/>
                <a:sym typeface="Arial"/>
              </a:rPr>
              <a:t>44%</a:t>
            </a: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, easy+medium ≈ </a:t>
            </a:r>
            <a:r>
              <a:rPr lang="ko" sz="1100" b="1">
                <a:latin typeface="함초롬돋움"/>
                <a:ea typeface="함초롬돋움"/>
                <a:cs typeface="함초롬돋움"/>
                <a:sym typeface="Arial"/>
              </a:rPr>
              <a:t>56%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PPO: hard ≈ </a:t>
            </a:r>
            <a:r>
              <a:rPr lang="ko" sz="1100" b="1">
                <a:latin typeface="함초롬돋움"/>
                <a:ea typeface="함초롬돋움"/>
                <a:cs typeface="함초롬돋움"/>
                <a:sym typeface="Arial"/>
              </a:rPr>
              <a:t>68%</a:t>
            </a: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, easy+medium ≈ </a:t>
            </a:r>
            <a:r>
              <a:rPr lang="ko" sz="1100" b="1">
                <a:latin typeface="함초롬돋움"/>
                <a:ea typeface="함초롬돋움"/>
                <a:cs typeface="함초롬돋움"/>
                <a:sym typeface="Arial"/>
              </a:rPr>
              <a:t>32%</a:t>
            </a:r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→ PPO는 사망의 약 3분의 2가 hard에서 발생,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    DQN은 여전히 easy/medium 구간에서의 실패 비중이 크다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400" b="1">
                <a:latin typeface="함초롬돋움"/>
                <a:ea typeface="함초롬돋움"/>
                <a:cs typeface="함초롬돋움"/>
                <a:sym typeface="Arial"/>
              </a:rPr>
              <a:t>상위사망패턴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DQN_new: hard_complex_8 + easy_center_C 등,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                   hard와 easy가 섞여 있음</a:t>
            </a:r>
          </a:p>
          <a:p>
            <a:pPr marL="914400" lvl="1" indent="-29845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PPO: 상위 5개 패턴이 모두 hard_complex 계열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         → PPO는 </a:t>
            </a:r>
            <a:r>
              <a:rPr lang="ko" sz="1100" b="1">
                <a:solidFill>
                  <a:srgbClr val="CC0000"/>
                </a:solidFill>
                <a:latin typeface="함초롬돋움"/>
                <a:ea typeface="함초롬돋움"/>
                <a:cs typeface="함초롬돋움"/>
                <a:sym typeface="Arial"/>
              </a:rPr>
              <a:t>“진짜 어려운 패턴에서만” </a:t>
            </a: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반복적으로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              실패하는 수준까지 도달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endParaRPr lang="ko" sz="1100">
              <a:latin typeface="함초롬돋움"/>
              <a:ea typeface="함초롬돋움"/>
              <a:cs typeface="함초롬돋움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Font typeface="Arial"/>
              <a:buChar char="●"/>
              <a:defRPr/>
            </a:pP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최종 모델 기준으로 봐도, </a:t>
            </a:r>
            <a:r>
              <a:rPr lang="ko" sz="1100" b="1">
                <a:latin typeface="함초롬돋움"/>
                <a:ea typeface="함초롬돋움"/>
                <a:cs typeface="함초롬돋움"/>
                <a:sym typeface="Arial"/>
              </a:rPr>
              <a:t>PPO</a:t>
            </a: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는 easy/medium은 거의 해결하고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hard_complex에서만 고전하는 반면,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 b="1">
                <a:latin typeface="함초롬돋움"/>
                <a:ea typeface="함초롬돋움"/>
                <a:cs typeface="함초롬돋움"/>
                <a:sym typeface="Arial"/>
              </a:rPr>
              <a:t>DQN</a:t>
            </a: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은 난이도 전 구간에 걸쳐 실패가 분산되어 있어 </a:t>
            </a:r>
            <a:br>
              <a:rPr lang="ko" sz="1100">
                <a:ea typeface="함초롬돋움"/>
                <a:cs typeface="함초롬돋움"/>
                <a:sym typeface="Arial"/>
              </a:rPr>
            </a:br>
            <a:r>
              <a:rPr lang="ko" sz="1100">
                <a:latin typeface="함초롬돋움"/>
                <a:ea typeface="함초롬돋움"/>
                <a:cs typeface="함초롬돋움"/>
                <a:sym typeface="Arial"/>
              </a:rPr>
              <a:t>환경 전체에 대한 일반화 수준에서 차이가 난다</a:t>
            </a:r>
            <a:endParaRPr sz="1400" b="1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pic>
        <p:nvPicPr>
          <p:cNvPr id="194" name="Google Shape;194;g3ad5da20bcc_4_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500" y="456900"/>
            <a:ext cx="3586691" cy="222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ad5da20bcc_4_1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712" y="3076475"/>
            <a:ext cx="4814290" cy="17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1212a127_0_0"/>
          <p:cNvSpPr txBox="1">
            <a:spLocks noGrp="1"/>
          </p:cNvSpPr>
          <p:nvPr>
            <p:ph type="title"/>
          </p:nvPr>
        </p:nvSpPr>
        <p:spPr>
          <a:xfrm>
            <a:off x="75607" y="100928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최종 실험 결과(Cont.)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201" name="Google Shape;201;g3ae1212a127_0_0"/>
          <p:cNvSpPr txBox="1">
            <a:spLocks noGrp="1"/>
          </p:cNvSpPr>
          <p:nvPr>
            <p:ph type="body" idx="1"/>
          </p:nvPr>
        </p:nvSpPr>
        <p:spPr>
          <a:xfrm>
            <a:off x="129475" y="604200"/>
            <a:ext cx="1649100" cy="3546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2100" b="1">
                <a:solidFill>
                  <a:srgbClr val="1155CC"/>
                </a:solidFill>
                <a:latin typeface="한컴 윤고딕 740"/>
                <a:ea typeface="한컴 윤고딕 740"/>
                <a:cs typeface="함초롬돋움"/>
              </a:rPr>
              <a:t>시연 영상</a:t>
            </a:r>
            <a:endParaRPr b="1">
              <a:latin typeface="한컴 윤고딕 740"/>
              <a:ea typeface="한컴 윤고딕 740"/>
              <a:cs typeface="함초롬돋움"/>
              <a:sym typeface="Arial"/>
            </a:endParaRPr>
          </a:p>
        </p:txBody>
      </p:sp>
      <p:pic>
        <p:nvPicPr>
          <p:cNvPr id="203" name="그림 202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3159637" y="675967"/>
            <a:ext cx="2824726" cy="42370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d5da20bcc_4_225"/>
          <p:cNvSpPr txBox="1">
            <a:spLocks noGrp="1"/>
          </p:cNvSpPr>
          <p:nvPr>
            <p:ph type="body" idx="1"/>
          </p:nvPr>
        </p:nvSpPr>
        <p:spPr>
          <a:xfrm>
            <a:off x="4617250" y="1012625"/>
            <a:ext cx="4480500" cy="39180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 b="1" dirty="0">
                <a:latin typeface="함초롬돋움"/>
                <a:ea typeface="함초롬돋움"/>
                <a:cs typeface="함초롬돋움"/>
                <a:sym typeface="Arial"/>
              </a:rPr>
              <a:t>2</a:t>
            </a:r>
            <a:r>
              <a:rPr lang="en-US" altLang="ko-KR" sz="1700" b="1" dirty="0">
                <a:ea typeface="함초롬돋움"/>
                <a:cs typeface="함초롬돋움"/>
                <a:sym typeface="Arial"/>
              </a:rPr>
              <a:t>.</a:t>
            </a:r>
            <a:r>
              <a:rPr lang="ko-KR" altLang="en-US" sz="1700" b="1" dirty="0">
                <a:ea typeface="함초롬돋움"/>
                <a:cs typeface="함초롬돋움"/>
                <a:sym typeface="Arial"/>
              </a:rPr>
              <a:t>    </a:t>
            </a:r>
            <a:r>
              <a:rPr lang="ko" sz="1500" b="1" dirty="0">
                <a:latin typeface="함초롬돋움"/>
                <a:ea typeface="함초롬돋움"/>
                <a:cs typeface="함초롬돋움"/>
                <a:sym typeface="Arial"/>
              </a:rPr>
              <a:t>DQN 열세 원인 분석</a:t>
            </a:r>
          </a:p>
          <a:p>
            <a:pPr marL="914400" lvl="1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가설 1 : hard 경험 희소성 + 버퍼 희석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hard 패턴은 에피소드 후반에 드물게 등장하는데,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큰 replay buffer와 큰 batch를 활용했었음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희귀하지만 중요한 hard trajectory가 easy/medium 샘플에 희석되면서 hard 패턴 특화 학습이 부족</a:t>
            </a:r>
          </a:p>
          <a:p>
            <a:pPr marL="914400" lvl="1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가설 2 : ε-greedy 탐색 고갈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256개 env를 병렬로 돌리면서 global step가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빠르게 증가하고, ε가 금방 0.01 근처로 떨어지는 구조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그 결과, Hard 구간에서 새롭게 진입해 보는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탐색 자체가 사라졌을 가능성 존재</a:t>
            </a:r>
          </a:p>
          <a:p>
            <a:pPr marL="914400" lvl="1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가설 3 : Q-network 표현의 불안정성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normalization 없이 Q(s,a)를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직접 회귀하는 MLP </a:t>
            </a:r>
            <a:r>
              <a:rPr lang="ko-KR" altLang="en-US" sz="1100" dirty="0">
                <a:latin typeface="함초롬돋움"/>
                <a:ea typeface="함초롬돋움"/>
                <a:cs typeface="함초롬돋움"/>
                <a:sym typeface="Arial"/>
              </a:rPr>
              <a:t>  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구조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high-variance / heavy-tail reward 분포에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민감하게 흔들릴 수 있는 형태</a:t>
            </a:r>
            <a:endParaRPr sz="1200" dirty="0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sp>
        <p:nvSpPr>
          <p:cNvPr id="208" name="Google Shape;208;g3ad5da20bcc_4_225"/>
          <p:cNvSpPr txBox="1">
            <a:spLocks noGrp="1"/>
          </p:cNvSpPr>
          <p:nvPr>
            <p:ph type="title"/>
          </p:nvPr>
        </p:nvSpPr>
        <p:spPr>
          <a:xfrm>
            <a:off x="108375" y="3"/>
            <a:ext cx="8488282" cy="424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100">
                <a:solidFill>
                  <a:srgbClr val="1C4587"/>
                </a:solidFill>
                <a:latin typeface="한컴 윤고딕 760"/>
                <a:ea typeface="한컴 윤고딕 760"/>
              </a:rPr>
              <a:t>토의 및 결론</a:t>
            </a:r>
            <a:endParaRPr sz="2100" b="0">
              <a:solidFill>
                <a:srgbClr val="1C4587"/>
              </a:solidFill>
              <a:latin typeface="한컴 윤고딕 760"/>
              <a:ea typeface="한컴 윤고딕 760"/>
            </a:endParaRPr>
          </a:p>
        </p:txBody>
      </p:sp>
      <p:sp>
        <p:nvSpPr>
          <p:cNvPr id="209" name="Google Shape;209;g3ad5da20bcc_4_225"/>
          <p:cNvSpPr txBox="1">
            <a:spLocks noGrp="1"/>
          </p:cNvSpPr>
          <p:nvPr>
            <p:ph type="body" idx="1"/>
          </p:nvPr>
        </p:nvSpPr>
        <p:spPr>
          <a:xfrm>
            <a:off x="0" y="424800"/>
            <a:ext cx="4572300" cy="46218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실험 결과에 대한 생각</a:t>
            </a:r>
            <a:br>
              <a:rPr lang="ko" sz="1700" b="1" dirty="0">
                <a:solidFill>
                  <a:srgbClr val="1155CC"/>
                </a:solidFill>
                <a:ea typeface="함초롬돋움"/>
                <a:cs typeface="함초롬돋움"/>
              </a:rPr>
            </a:br>
            <a:endParaRPr lang="ko" sz="1700" b="1" dirty="0">
              <a:solidFill>
                <a:srgbClr val="1155CC"/>
              </a:solidFill>
              <a:latin typeface="함초롬돋움"/>
              <a:ea typeface="함초롬돋움"/>
              <a:cs typeface="함초롬돋움"/>
            </a:endParaRPr>
          </a:p>
          <a:p>
            <a:pPr marL="13335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None/>
              <a:defRPr/>
            </a:pPr>
            <a:r>
              <a:rPr lang="en-US" altLang="ko-KR" sz="1500" b="1" dirty="0">
                <a:latin typeface="함초롬돋움"/>
                <a:ea typeface="함초롬돋움"/>
                <a:cs typeface="함초롬돋움"/>
                <a:sym typeface="Arial"/>
              </a:rPr>
              <a:t>1.</a:t>
            </a:r>
            <a:r>
              <a:rPr lang="ko-KR" altLang="en-US" sz="1500" b="1" dirty="0">
                <a:latin typeface="함초롬돋움"/>
                <a:ea typeface="함초롬돋움"/>
                <a:cs typeface="함초롬돋움"/>
                <a:sym typeface="Arial"/>
              </a:rPr>
              <a:t>   </a:t>
            </a:r>
            <a:r>
              <a:rPr lang="ko" sz="1500" b="1" dirty="0">
                <a:latin typeface="함초롬돋움"/>
                <a:ea typeface="함초롬돋움"/>
                <a:cs typeface="함초롬돋움"/>
                <a:sym typeface="Arial"/>
              </a:rPr>
              <a:t>PPO의 실패 run(seed1)의 원인 분석</a:t>
            </a:r>
          </a:p>
          <a:p>
            <a:pPr marL="914400" lvl="1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PPO의 설계 안정성</a:t>
            </a:r>
          </a:p>
          <a:p>
            <a:pPr marL="1371600" lvl="2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클리핑, KL 제어, 작은 learning rate 등으로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한 번의 업데이트에서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정책이 급격히 붕괴하는 것을 막는 알고리즘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→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per-update 관점의 안정성 확보</a:t>
            </a:r>
          </a:p>
          <a:p>
            <a:pPr marL="914400" lvl="1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관찰</a:t>
            </a:r>
          </a:p>
          <a:p>
            <a:pPr marL="1371600" lvl="2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두 run(seed 0,2)은 hard 패턴까지 도달하며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고보상 정책으로 수렴</a:t>
            </a:r>
          </a:p>
          <a:p>
            <a:pPr marL="1371600" lvl="2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한 run(seed 1)은 초반에 형성된 </a:t>
            </a:r>
            <a:r>
              <a:rPr lang="ko-KR" altLang="en-US" sz="1100" dirty="0">
                <a:latin typeface="함초롬돋움"/>
                <a:ea typeface="함초롬돋움"/>
                <a:cs typeface="함초롬돋움"/>
                <a:sym typeface="Arial"/>
              </a:rPr>
              <a:t>지역 최적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에서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벗어나지 못하고, 성장 없이 수렴</a:t>
            </a:r>
          </a:p>
          <a:p>
            <a:pPr marL="914400" lvl="1" indent="-30797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250" b="1" dirty="0">
                <a:latin typeface="함초롬돋움"/>
                <a:ea typeface="함초롬돋움"/>
                <a:cs typeface="함초롬돋움"/>
                <a:sym typeface="Arial"/>
              </a:rPr>
              <a:t>해석</a:t>
            </a:r>
          </a:p>
          <a:p>
            <a:pPr marL="1371600" lvl="2" indent="-30797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250" b="1" dirty="0">
                <a:latin typeface="함초롬돋움"/>
                <a:ea typeface="함초롬돋움"/>
                <a:cs typeface="함초롬돋움"/>
                <a:sym typeface="Arial"/>
              </a:rPr>
              <a:t>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“안정성 장치” 때문에 업데이트가 보수적으로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제한되면서,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초기 정책이 불리한 seed에서는 낮은 reward의 local optimum에 고착될 수 있는 리스크가 드러남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→ PPO는 높은 상한과 동시에 seed에 따른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큰 분산·하한 리스크를 가진다는 trade-off가 확인됨</a:t>
            </a:r>
            <a:endParaRPr sz="1200" dirty="0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cxnSp>
        <p:nvCxnSpPr>
          <p:cNvPr id="210" name="Google Shape;210;g3ad5da20bcc_4_225"/>
          <p:cNvCxnSpPr/>
          <p:nvPr/>
        </p:nvCxnSpPr>
        <p:spPr>
          <a:xfrm>
            <a:off x="4543650" y="989500"/>
            <a:ext cx="9300" cy="4020000"/>
          </a:xfrm>
          <a:prstGeom prst="straightConnector1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d5da20bcc_4_258"/>
          <p:cNvSpPr txBox="1">
            <a:spLocks noGrp="1"/>
          </p:cNvSpPr>
          <p:nvPr>
            <p:ph type="body" idx="1"/>
          </p:nvPr>
        </p:nvSpPr>
        <p:spPr>
          <a:xfrm>
            <a:off x="4480500" y="60600"/>
            <a:ext cx="4663500" cy="5291046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lnSpcReduction="10000"/>
          </a:bodyPr>
          <a:lstStyle/>
          <a:p>
            <a:pPr marL="142875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None/>
              <a:defRPr/>
            </a:pPr>
            <a:endParaRPr lang="en-US" altLang="ko-KR" sz="1350" b="1" dirty="0">
              <a:latin typeface="함초롬돋움"/>
              <a:ea typeface="함초롬돋움"/>
              <a:cs typeface="함초롬돋움"/>
              <a:sym typeface="Arial"/>
            </a:endParaRPr>
          </a:p>
          <a:p>
            <a:pPr marL="142875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None/>
              <a:defRPr/>
            </a:pPr>
            <a:r>
              <a:rPr lang="en-US" altLang="ko-KR" sz="1350" b="1" dirty="0">
                <a:latin typeface="함초롬돋움"/>
                <a:ea typeface="함초롬돋움"/>
                <a:cs typeface="함초롬돋움"/>
                <a:sym typeface="Arial"/>
              </a:rPr>
              <a:t>3.</a:t>
            </a:r>
            <a:r>
              <a:rPr lang="ko-KR" altLang="en-US" sz="1350" b="1" dirty="0">
                <a:latin typeface="함초롬돋움"/>
                <a:ea typeface="함초롬돋움"/>
                <a:cs typeface="함초롬돋움"/>
                <a:sym typeface="Arial"/>
              </a:rPr>
              <a:t>    </a:t>
            </a:r>
            <a:r>
              <a:rPr lang="ko" sz="1350" b="1" dirty="0">
                <a:latin typeface="함초롬돋움"/>
                <a:ea typeface="함초롬돋움"/>
                <a:cs typeface="함초롬돋움"/>
                <a:sym typeface="Arial"/>
              </a:rPr>
              <a:t>알고리즘 측면 개선 방향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200" b="1" dirty="0">
                <a:latin typeface="함초롬돋움"/>
                <a:ea typeface="함초롬돋움"/>
                <a:cs typeface="함초롬돋움"/>
                <a:sym typeface="Arial"/>
              </a:rPr>
              <a:t>DQN</a:t>
            </a:r>
          </a:p>
          <a:p>
            <a:pPr marL="1371600" lvl="2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easy/medium 실패 비중이 높은 만큼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Prioritized Replay, Double/Distributional DQN, epsilon schedule 재조정 등을 통해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기본 회피 성능과 수렴 안정성을 추가로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개선할 여지가 있다</a:t>
            </a:r>
          </a:p>
          <a:p>
            <a:pPr marL="142875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90000"/>
              </a:buClr>
              <a:buSzPct val="25000"/>
              <a:buFont typeface="Arial"/>
              <a:buNone/>
              <a:defRPr/>
            </a:pPr>
            <a:r>
              <a:rPr lang="ko" sz="1350" b="1" dirty="0">
                <a:solidFill>
                  <a:srgbClr val="990000"/>
                </a:solidFill>
                <a:latin typeface="함초롬돋움"/>
                <a:ea typeface="함초롬돋움"/>
                <a:cs typeface="함초롬돋움"/>
                <a:sym typeface="Arial"/>
              </a:rPr>
              <a:t>최종 결론 요약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200" b="1" dirty="0">
                <a:latin typeface="함초롬돋움"/>
                <a:ea typeface="함초롬돋움"/>
                <a:cs typeface="함초롬돋움"/>
                <a:sym typeface="Arial"/>
              </a:rPr>
              <a:t>결론 1 – 성능 측면</a:t>
            </a:r>
          </a:p>
          <a:p>
            <a:pPr marL="1371600" lvl="2" indent="-311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동일 환경 기준, PPO는 DQN보다 평균·상한에서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n배 이상 높은 성능을 달성하며,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난이도·패턴 관점에서 easy/medium 패턴을 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거의 해결한 정책으로 수렴한다.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200" b="1" dirty="0">
                <a:latin typeface="함초롬돋움"/>
                <a:ea typeface="함초롬돋움"/>
                <a:cs typeface="함초롬돋움"/>
                <a:sym typeface="Arial"/>
              </a:rPr>
              <a:t>결론 2 – 안정성·리스크 측면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다만 PPO는 seed에 따라 DQN 이하의 low-reward local optimum에 머무르는 실패 run이 존재하며,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→ “높은 상한과 동시에 큰 분산·리스크를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  <a:t>     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가진 알고리즘”이라는 특성이 확인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○"/>
              <a:defRPr/>
            </a:pPr>
            <a:r>
              <a:rPr lang="ko" sz="1200" b="1" dirty="0">
                <a:latin typeface="함초롬돋움"/>
                <a:ea typeface="함초롬돋움"/>
                <a:cs typeface="함초롬돋움"/>
                <a:sym typeface="Arial"/>
              </a:rPr>
              <a:t>결론 3 – 실험 설계 관점에서의 교훈</a:t>
            </a:r>
          </a:p>
          <a:p>
            <a:pPr marL="1371600" lvl="2" indent="-298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25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reward shaping·환경 설계·알고리즘 튜닝을 동시에 바꾸면서 시행착오를 거친 탐색 단계였고,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다음 단계에서는 통제된 실험 프로토콜 하에서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PPO의 분산을 줄이면서 상한을 유지하는 방향을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중점적으로 검증하는 것이 필요</a:t>
            </a:r>
            <a:endParaRPr sz="1100" dirty="0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sp>
        <p:nvSpPr>
          <p:cNvPr id="216" name="Google Shape;216;g3ad5da20bcc_4_258"/>
          <p:cNvSpPr txBox="1">
            <a:spLocks noGrp="1"/>
          </p:cNvSpPr>
          <p:nvPr>
            <p:ph type="body" idx="1"/>
          </p:nvPr>
        </p:nvSpPr>
        <p:spPr>
          <a:xfrm>
            <a:off x="0" y="6060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700" b="1" dirty="0">
                <a:solidFill>
                  <a:srgbClr val="1155CC"/>
                </a:solidFill>
                <a:latin typeface="함초롬돋움"/>
                <a:ea typeface="함초롬돋움"/>
                <a:cs typeface="함초롬돋움"/>
              </a:rPr>
              <a:t>보완 및 개선사항</a:t>
            </a:r>
          </a:p>
          <a:p>
            <a:pPr marL="457200" lvl="0" indent="-31670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AutoNum type="arabicPeriod"/>
              <a:defRPr/>
            </a:pPr>
            <a:r>
              <a:rPr lang="ko" sz="1500" b="1" dirty="0">
                <a:latin typeface="함초롬돋움"/>
                <a:ea typeface="함초롬돋움"/>
                <a:cs typeface="함초롬돋움"/>
                <a:sym typeface="Arial"/>
              </a:rPr>
              <a:t>실험 통제 측면</a:t>
            </a:r>
          </a:p>
          <a:p>
            <a:pPr marL="914400" lvl="1" indent="-30495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Seed·하이퍼파라미터 미통제 한계</a:t>
            </a:r>
          </a:p>
          <a:p>
            <a:pPr marL="1371600" lvl="2" indent="-304958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18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시행착오 과정에서는 random seed를 기록/고정하지 않았고, PPO–DQN 비교에서도 episode 수·total steps·rollout 설정이 제각각이어서</a:t>
            </a:r>
          </a:p>
          <a:p>
            <a:pPr marL="137160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→ 알고리즘 구조 차이와 하이퍼파라미터 튜닝 정도가 섞인 결과라는 한계가 있었음</a:t>
            </a:r>
          </a:p>
          <a:p>
            <a:pPr marL="914400" lvl="1" indent="-304958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향후 계획 – 통제된 실험 프로토콜</a:t>
            </a:r>
          </a:p>
          <a:p>
            <a:pPr marL="1371600" lvl="2" indent="-304958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18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단일 환경 버전을 고정하고,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공통 학습 budget을 미리 정의 후,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공통 seed 리스트을 지정해 모든 알고리즘이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같은 데이터 양·같은 seed 셋으로 비교되도록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실험 설계를 재구성</a:t>
            </a:r>
            <a:br>
              <a:rPr lang="ko" sz="1100" dirty="0">
                <a:ea typeface="함초롬돋움"/>
                <a:cs typeface="함초롬돋움"/>
                <a:sym typeface="Arial"/>
              </a:rPr>
            </a:br>
            <a:endParaRPr lang="ko" sz="1100" dirty="0">
              <a:latin typeface="함초롬돋움"/>
              <a:ea typeface="함초롬돋움"/>
              <a:cs typeface="함초롬돋움"/>
              <a:sym typeface="Arial"/>
            </a:endParaRPr>
          </a:p>
          <a:p>
            <a:pPr marL="140494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  <a:defRPr/>
            </a:pPr>
            <a:r>
              <a:rPr lang="en-US" altLang="ko-KR" sz="1500" b="1" dirty="0">
                <a:latin typeface="함초롬돋움"/>
                <a:ea typeface="함초롬돋움"/>
                <a:cs typeface="함초롬돋움"/>
                <a:sym typeface="Arial"/>
              </a:rPr>
              <a:t>2.</a:t>
            </a:r>
            <a:r>
              <a:rPr lang="ko-KR" altLang="en-US" sz="1500" b="1" dirty="0">
                <a:latin typeface="함초롬돋움"/>
                <a:ea typeface="함초롬돋움"/>
                <a:cs typeface="함초롬돋움"/>
                <a:sym typeface="Arial"/>
              </a:rPr>
              <a:t>   </a:t>
            </a:r>
            <a:r>
              <a:rPr lang="ko" sz="1500" b="1" dirty="0">
                <a:latin typeface="함초롬돋움"/>
                <a:ea typeface="함초롬돋움"/>
                <a:cs typeface="함초롬돋움"/>
                <a:sym typeface="Arial"/>
              </a:rPr>
              <a:t>튜닝 단계와 비교 단계의 분리</a:t>
            </a:r>
          </a:p>
          <a:p>
            <a:pPr marL="914400" lvl="1" indent="-304958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튜닝 단계</a:t>
            </a:r>
          </a:p>
          <a:p>
            <a:pPr marL="1371600" lvl="2" indent="-293211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알고리즘별로 소수 seed(1~2개)만 사용해 </a:t>
            </a:r>
            <a:br>
              <a:rPr lang="en-US" altLang="ko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내부 하이퍼파라미터를 탐색</a:t>
            </a:r>
          </a:p>
          <a:p>
            <a:pPr marL="1371600" lvl="2" indent="-293211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이 단계의 결과로 각 알고리즘의 “best config”를 선정</a:t>
            </a:r>
          </a:p>
          <a:p>
            <a:pPr marL="914400" lvl="1" indent="-304958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○"/>
              <a:defRPr/>
            </a:pPr>
            <a:r>
              <a:rPr lang="ko" sz="1300" b="1" dirty="0">
                <a:latin typeface="함초롬돋움"/>
                <a:ea typeface="함초롬돋움"/>
                <a:cs typeface="함초롬돋움"/>
                <a:sym typeface="Arial"/>
              </a:rPr>
              <a:t>비교 단계</a:t>
            </a:r>
          </a:p>
          <a:p>
            <a:pPr marL="1371600" lvl="2" indent="-293211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튜닝이 끝나면 각 알고리즘에 대해</a:t>
            </a:r>
            <a:r>
              <a:rPr lang="ko" sz="1100" b="1" dirty="0">
                <a:latin typeface="함초롬돋움"/>
                <a:ea typeface="함초롬돋움"/>
                <a:cs typeface="함초롬돋움"/>
                <a:sym typeface="Arial"/>
              </a:rPr>
              <a:t> </a:t>
            </a: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하나의 config를 </a:t>
            </a:r>
            <a:r>
              <a:rPr lang="ko-KR" altLang="en-US" sz="1100" dirty="0">
                <a:latin typeface="함초롬돋움"/>
                <a:ea typeface="함초롬돋움"/>
                <a:cs typeface="함초롬돋움"/>
                <a:sym typeface="Arial"/>
              </a:rPr>
              <a:t>   </a:t>
            </a:r>
            <a:br>
              <a:rPr lang="en-US" altLang="ko-KR" sz="1100" dirty="0">
                <a:latin typeface="함초롬돋움"/>
                <a:ea typeface="함초롬돋움"/>
                <a:cs typeface="함초롬돋움"/>
                <a:sym typeface="Arial"/>
              </a:rPr>
            </a:b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고정하고, 앞에서 정한 seed 리스트 전체로 다시 학습</a:t>
            </a:r>
          </a:p>
          <a:p>
            <a:pPr marL="1371600" lvl="2" indent="-293211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본 단계에서는, </a:t>
            </a:r>
          </a:p>
          <a:p>
            <a:pPr marL="1828800" lvl="3" indent="-293211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seed, total steps, env 버전, 평가 방식만 공유</a:t>
            </a:r>
          </a:p>
          <a:p>
            <a:pPr marL="1828800" lvl="3" indent="-293211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  <a:defRPr/>
            </a:pPr>
            <a:r>
              <a:rPr lang="ko" sz="1100" dirty="0">
                <a:latin typeface="함초롬돋움"/>
                <a:ea typeface="함초롬돋움"/>
                <a:cs typeface="함초롬돋움"/>
                <a:sym typeface="Arial"/>
              </a:rPr>
              <a:t>하이퍼파라미터는 각 알고리즘이 제일 잘 나오도록 튜닝된 값으로 고정</a:t>
            </a:r>
            <a:endParaRPr sz="1200" dirty="0">
              <a:latin typeface="함초롬돋움"/>
              <a:ea typeface="함초롬돋움"/>
              <a:cs typeface="함초롬돋움"/>
              <a:sym typeface="Arial"/>
            </a:endParaRPr>
          </a:p>
        </p:txBody>
      </p:sp>
      <p:cxnSp>
        <p:nvCxnSpPr>
          <p:cNvPr id="217" name="Google Shape;217;g3ad5da20bcc_4_258"/>
          <p:cNvCxnSpPr/>
          <p:nvPr/>
        </p:nvCxnSpPr>
        <p:spPr>
          <a:xfrm>
            <a:off x="4534400" y="240425"/>
            <a:ext cx="0" cy="4861200"/>
          </a:xfrm>
          <a:prstGeom prst="straightConnector1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01247359f_0_56"/>
          <p:cNvSpPr txBox="1">
            <a:spLocks noGrp="1"/>
          </p:cNvSpPr>
          <p:nvPr>
            <p:ph type="title"/>
          </p:nvPr>
        </p:nvSpPr>
        <p:spPr>
          <a:xfrm>
            <a:off x="228000" y="2004574"/>
            <a:ext cx="8688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" sz="4900">
                <a:solidFill>
                  <a:srgbClr val="1C4587"/>
                </a:solidFill>
              </a:rPr>
              <a:t>Thank you !</a:t>
            </a:r>
            <a:endParaRPr sz="4200" b="0">
              <a:solidFill>
                <a:srgbClr val="1C4587"/>
              </a:solidFill>
            </a:endParaRPr>
          </a:p>
        </p:txBody>
      </p:sp>
      <p:pic>
        <p:nvPicPr>
          <p:cNvPr id="223" name="Google Shape;223;g3801247359f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226" y="935800"/>
            <a:ext cx="1316075" cy="106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801247359f_0_56"/>
          <p:cNvSpPr txBox="1">
            <a:spLocks noGrp="1"/>
          </p:cNvSpPr>
          <p:nvPr>
            <p:ph type="subTitle" idx="4294967295"/>
          </p:nvPr>
        </p:nvSpPr>
        <p:spPr>
          <a:xfrm>
            <a:off x="88975" y="4413025"/>
            <a:ext cx="24756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lang="ko" sz="1165"/>
              <a:t>조 이름 : 벼락을느껴⚡</a:t>
            </a:r>
            <a:endParaRPr sz="1165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lang="ko" sz="1165"/>
              <a:t>20211204 이지우, 20231842 나정연 </a:t>
            </a:r>
            <a:endParaRPr sz="116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3439</Words>
  <Application>Microsoft Office PowerPoint</Application>
  <PresentationFormat>화면 슬라이드 쇼(16:9)</PresentationFormat>
  <Paragraphs>344</Paragraphs>
  <Slides>27</Slides>
  <Notes>27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HY헤드라인M</vt:lpstr>
      <vt:lpstr>Malgun Gothic</vt:lpstr>
      <vt:lpstr>한컴 윤고딕 740</vt:lpstr>
      <vt:lpstr>한컴 윤고딕 760</vt:lpstr>
      <vt:lpstr>함초롬돋움</vt:lpstr>
      <vt:lpstr>Arial</vt:lpstr>
      <vt:lpstr>Calibri</vt:lpstr>
      <vt:lpstr>Simple Light</vt:lpstr>
      <vt:lpstr>Thunder Rush : 3 - Lane Infinite Runner </vt:lpstr>
      <vt:lpstr>프로젝트 주제 및 목표</vt:lpstr>
      <vt:lpstr>팀 기여도</vt:lpstr>
      <vt:lpstr>환경 및 데이터셋 설명</vt:lpstr>
      <vt:lpstr>환경 및 데이터셋 설명(Cont.)</vt:lpstr>
      <vt:lpstr>State, Action, Reward 설명</vt:lpstr>
      <vt:lpstr>State, Action, Reward 설명 (Cont.)</vt:lpstr>
      <vt:lpstr>State, Action, Reward 설명 (Cont.)</vt:lpstr>
      <vt:lpstr>강화학습 알고리즘 및 hyperparameter 등 설명</vt:lpstr>
      <vt:lpstr>강화학습 알고리즘 및 hyperparameter 등 설명 (Cont.)</vt:lpstr>
      <vt:lpstr>강화학습 알고리즘 및 hyperparameter 등 설명 (Cont.)</vt:lpstr>
      <vt:lpstr>강화학습 알고리즘 및 hyperparameter 등 설명</vt:lpstr>
      <vt:lpstr>강화학습 알고리즘 및 hyperparameter 등 설명(Cont.)</vt:lpstr>
      <vt:lpstr>강화학습 알고리즘 및 hyperparameter 등 설명(Cont.)</vt:lpstr>
      <vt:lpstr>실험 셋업 (실험 환경 / Evaluation metrics)</vt:lpstr>
      <vt:lpstr>시행착오</vt:lpstr>
      <vt:lpstr>PowerPoint 프레젠테이션</vt:lpstr>
      <vt:lpstr>PPO 시행착오 : DQN 바탕으로 환경 안정화 후 PPO 도입, 그러나 DQN 대비 우위 없음</vt:lpstr>
      <vt:lpstr>PPO 개선 후 성능 폭발!</vt:lpstr>
      <vt:lpstr>PowerPoint 프레젠테이션</vt:lpstr>
      <vt:lpstr>실험 흐름 요약</vt:lpstr>
      <vt:lpstr>최종 실험 결과</vt:lpstr>
      <vt:lpstr>최종 실험 결과(Cont.)</vt:lpstr>
      <vt:lpstr>최종 실험 결과(Cont.)</vt:lpstr>
      <vt:lpstr>토의 및 결론</vt:lpstr>
      <vt:lpstr>PowerPoint 프레젠테이션</vt:lpstr>
      <vt:lpstr>Thank you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Name No</dc:creator>
  <cp:lastModifiedBy>3111</cp:lastModifiedBy>
  <cp:revision>31</cp:revision>
  <dcterms:modified xsi:type="dcterms:W3CDTF">2025-12-07T14:21:57Z</dcterms:modified>
  <cp:version/>
</cp:coreProperties>
</file>